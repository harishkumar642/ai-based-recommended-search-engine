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70" r:id="rId12"/>
    <p:sldId id="267" r:id="rId13"/>
    <p:sldId id="268" r:id="rId14"/>
    <p:sldId id="269" r:id="rId15"/>
    <p:sldId id="271" r:id="rId16"/>
    <p:sldId id="272" r:id="rId17"/>
    <p:sldId id="273" r:id="rId18"/>
    <p:sldId id="287" r:id="rId19"/>
    <p:sldId id="276" r:id="rId20"/>
    <p:sldId id="278" r:id="rId21"/>
    <p:sldId id="279" r:id="rId22"/>
    <p:sldId id="280" r:id="rId23"/>
    <p:sldId id="281" r:id="rId24"/>
    <p:sldId id="274" r:id="rId25"/>
    <p:sldId id="282" r:id="rId26"/>
    <p:sldId id="284" r:id="rId27"/>
    <p:sldId id="289" r:id="rId28"/>
    <p:sldId id="28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6F14D-4211-4FC6-86DB-A89245AB174A}" type="datetimeFigureOut">
              <a:rPr lang="en-US" smtClean="0"/>
              <a:t>10-Nov-25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22377-4BB5-4483-8FD2-B1075463747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" TargetMode="External"/><Relationship Id="rId2" Type="http://schemas.openxmlformats.org/officeDocument/2006/relationships/hyperlink" Target="https://www.tensorflow.org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0"/>
            <a:ext cx="6705600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762000" y="1968044"/>
            <a:ext cx="76962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 RECOMMENDATION ENGINE FOR </a:t>
            </a:r>
            <a:r>
              <a:rPr kumimoji="0" lang="en-US" sz="28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E-COMMERCE</a:t>
            </a:r>
            <a:r>
              <a:rPr kumimoji="0" lang="en-US" sz="2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WEBSITES </a:t>
            </a:r>
            <a:endParaRPr kumimoji="0" lang="en-US" sz="2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3200400" y="4648200"/>
            <a:ext cx="28194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Submitted by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Daniel Stauline I G</a:t>
            </a:r>
            <a:endParaRPr kumimoji="0" lang="en-US" sz="12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(Reg. No: 126160009)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Harish Kumar V</a:t>
            </a:r>
            <a:endParaRPr kumimoji="0" lang="en-US" sz="12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(Reg. No: 126160018)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Vinesh Krishna K</a:t>
            </a:r>
            <a:endParaRPr kumimoji="0" lang="en-US" sz="12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(Reg. No: 126160057)</a:t>
            </a:r>
            <a:endParaRPr kumimoji="0" lang="en-US" sz="12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533400" y="3429000"/>
            <a:ext cx="83338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B. Tech. Electronic Communication Engineering – Cyber Physical Systems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762000" y="914400"/>
            <a:ext cx="6248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TABLE OF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57400"/>
            <a:ext cx="3536546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Introduction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Results &amp; Discussions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676400"/>
            <a:ext cx="66366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Introduction to Recommendation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838200"/>
            <a:ext cx="4698723" cy="7694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just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8001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Recommendation systems help users discover relevant products efficiently</a:t>
            </a:r>
            <a:br>
              <a:rPr lang="en-US" sz="2400" dirty="0"/>
            </a:br>
            <a:r>
              <a:rPr lang="en-US" sz="2400" dirty="0"/>
              <a:t>• Widely used in E-Commerce, streaming platforms, and social networks</a:t>
            </a:r>
            <a:br>
              <a:rPr lang="en-US" sz="2400" dirty="0"/>
            </a:br>
            <a:r>
              <a:rPr lang="en-US" sz="2400" dirty="0"/>
              <a:t>• Enhance user experience by delivering personalized suggestions</a:t>
            </a:r>
            <a:br>
              <a:rPr lang="en-US" sz="2400" dirty="0"/>
            </a:br>
            <a:r>
              <a:rPr lang="en-US" sz="2400" dirty="0"/>
              <a:t>• Reduce search time and improve decision-making for users</a:t>
            </a:r>
            <a:br>
              <a:rPr lang="en-US" sz="2400" dirty="0"/>
            </a:br>
            <a:r>
              <a:rPr lang="en-US" sz="2400" dirty="0"/>
              <a:t>• Major Types of Recommendation Systems:</a:t>
            </a:r>
            <a:br>
              <a:rPr lang="en-US" sz="2400" dirty="0"/>
            </a:br>
            <a:r>
              <a:rPr lang="en-US" sz="2400" dirty="0"/>
              <a:t>– Content-Based Filtering</a:t>
            </a:r>
            <a:br>
              <a:rPr lang="en-US" sz="2400" dirty="0"/>
            </a:br>
            <a:r>
              <a:rPr lang="en-US" sz="2400" dirty="0"/>
              <a:t>– Collaborative Filtering</a:t>
            </a:r>
            <a:br>
              <a:rPr lang="en-US" sz="2400" dirty="0"/>
            </a:br>
            <a:r>
              <a:rPr lang="en-US" sz="2400" dirty="0"/>
              <a:t>– Hybrid Approach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524000"/>
            <a:ext cx="36695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2286000"/>
            <a:ext cx="8153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Users face difficulty finding the most relevant products online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E-commerce platforms show limited or repetitive suggestions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Lack of intelligent recommendations reduces user engagement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Need for a system that understands product similarity beyond keywords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Motivation: Build a smart suggestion system with better accuracy &amp; relevance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447800"/>
            <a:ext cx="3175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2209800"/>
            <a:ext cx="8077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Objectives: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Develop an AI-based recommendation engine for e-commerce products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Improve recommendation accuracy using Machine Learning &amp; Deep Learning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Provide meaningful and user-centric product suggestions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Scope: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Unified search with cross-product comparison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Supports ML and DL-based recommendation models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Can be extended for personalization in future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838200"/>
            <a:ext cx="6315383" cy="769441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79687"/>
            <a:ext cx="8229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Sarwar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et al. (2001) – Proposed Collaborative Filtering for e-commerce recommendations, but required large user–item datasets and suffered from cold-start issues.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Lops et al. (2011) – Presented Content-Based Filtering using product descriptions and metadata; worked well for known user preferences but lacked diversity and novelty in recommendations.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Mikolov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et al. (2013) – Introduced Word2Vec for capturing semantic meaning of text; improved similarity understanding beyond keyword matching and became a base for deep recommendation models.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752600"/>
            <a:ext cx="7772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Sedhain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et al. (2015) – Applied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models for recommendation systems, showing improved accuracy over traditional CF but required high computational resources.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Covington et al. (2016) – Developed Deep Neural Networks for YouTube Recommendations, achieving high-quality personalization but using complex architectures and large datasets.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Kumari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&amp; Singh (2020) – Used Hybrid ML-DL recommendation models combining TF-IDF and deep learning for e-commerce, showing improved accuracy but lacked image- and behavioral-based integration.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447800"/>
            <a:ext cx="2781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Dataset Creation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2133600"/>
            <a:ext cx="7924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Created product dataset containing: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product_id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product_name, category, price, rating,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rating_count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description &amp; features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Performed data cleaning: removed duplicates, handled missing values, normalized text format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Standardized data: converted price to numeric, normalized rating to 0–1, unified category names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Filtered and structured final dataset: ~1457 records after cleaning and category balancing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Prepared train/validation/test split for model training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Exported reusable files for backend integration (e.g., catalog_lookup.csv, encoders,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scalers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vectorizers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2057400" y="762000"/>
            <a:ext cx="485742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219200"/>
            <a:ext cx="8153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Data Preprocessing, Feature Engineering &amp; TF-IDF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057400"/>
            <a:ext cx="8458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Text Preprocessing: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Standardized text for uniform processing (lowercasing, punctuation &amp; stop-word removal)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Tokenization performed to convert sentences into meaningful word tokens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Improved text quality for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vectorization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embedding generation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Feature Engineering: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Text Feature: Constructed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unified_text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by merging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product name + description + features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to form a single rich contextual field for modeling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143001"/>
            <a:ext cx="78486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Model-Specific Feature Bundles: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ML Recommendation (TF-IDF + KNN): Used TF-IDF vectors of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unified_text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for similarity-based product retrieval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TF-IDF (Term Frequency – Inverse Document Frequency):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– Converts text into weighted numerical vectors by scoring word relevance across the dataset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– TF: Measures how frequently a word appears in a product description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– IDF: Reduces weight of common words and increases weight of rare but meaningful terms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Provides strong baseline for content similarity due to fast computation, interpretability, and effectiveness for textual comparison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19200"/>
            <a:ext cx="7467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Word2Vec + Hybrid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Autoencoder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2133600"/>
            <a:ext cx="8229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Word2Vec was first used to convert product text into semantic vectors, allowing the model to understand meaning beyond exact keywords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The product text was tokenized and trained using the skip-gram model, producing word embeddings where similar-meaning words lie close in vector space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A product-level embedding was then created by averaging all word vectors in the product text, giving a semantic representation for each product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To overcome Word2Vec’s limitations, a Hybrid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was built to learn deeper product representations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4546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K-Nearest Neighbors (KNN)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905000"/>
            <a:ext cx="8229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Used to recommend the top-N most similar products to a given query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Product text is first converted into TF-IDF vectors to represent textual information numerically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Cosine distance is applied on these vectors to measure similarity between products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The system then uses KNN to search for nearest neighbors, ranking products based on similarity scores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This approach provides a simple and fast baseline for content-based recommendations without the need for model training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However, it depends only on matching keywords and does not understand meaning or context, which limits semantic accuracy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143000"/>
            <a:ext cx="41071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Random Forest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905000"/>
            <a:ext cx="8534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Implemented to predict the correct product category based on product attributes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Uses a combination of numerical features (price, rating,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pop_score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), TF-IDF (optional), and one-hot encoded category data as inputs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Random Forest was chosen because it handles noisy and nonlinear data well, improving classification reliability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The model provides feature importance, helping identify which product features influence category prediction the most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Achieved ~100% accuracy after balancing category data, showing strong classification performance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A limitation is that it may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overfit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on small or imbalanced categories and requires more memory due to multiple decision trees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066800"/>
            <a:ext cx="5855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Support </a:t>
            </a:r>
            <a:r>
              <a:rPr lang="fr-FR" sz="2800" b="1" dirty="0" err="1">
                <a:latin typeface="Times New Roman" pitchFamily="18" charset="0"/>
                <a:cs typeface="Times New Roman" pitchFamily="18" charset="0"/>
              </a:rPr>
              <a:t>Vector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 Machine (SVM) Classifier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1676400"/>
            <a:ext cx="8610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 SVM was implemented to predict the product category, similar to the Random Forest model</a:t>
            </a:r>
            <a:br>
              <a:rPr lang="en-US" sz="2400" dirty="0"/>
            </a:br>
            <a:r>
              <a:rPr lang="en-US" sz="2400" dirty="0"/>
              <a:t>• The model uses an RBF kernel, which performs well in high-dimensional feature spaces such as TF-IDF text data</a:t>
            </a:r>
            <a:br>
              <a:rPr lang="en-US" sz="2400" dirty="0"/>
            </a:br>
            <a:r>
              <a:rPr lang="en-US" sz="2400" dirty="0"/>
              <a:t>• It learns an optimal decision boundary that separates product categories with maximum margin, improving generalization</a:t>
            </a:r>
            <a:br>
              <a:rPr lang="en-US" sz="2400" dirty="0"/>
            </a:br>
            <a:r>
              <a:rPr lang="en-US" sz="2400" dirty="0"/>
              <a:t>• During evaluation, the SVM achieved ≈98.63% accuracy, demonstrating strong precision and recall across major product categories</a:t>
            </a:r>
            <a:br>
              <a:rPr lang="en-US" sz="2400" dirty="0"/>
            </a:br>
            <a:r>
              <a:rPr lang="en-US" sz="2400" dirty="0"/>
              <a:t>• This makes SVM a reliable classifier for text-rich data, especially when classes are well-separated</a:t>
            </a:r>
            <a:br>
              <a:rPr lang="en-US" sz="2400" dirty="0"/>
            </a:br>
            <a:r>
              <a:rPr lang="en-US" sz="2400" dirty="0"/>
              <a:t>• However, it is sensitive to </a:t>
            </a:r>
            <a:r>
              <a:rPr lang="en-US" sz="2400" dirty="0" err="1"/>
              <a:t>hyperparameters</a:t>
            </a:r>
            <a:r>
              <a:rPr lang="en-US" sz="2400" dirty="0"/>
              <a:t> (C and γ) and is less interpretable compared to Random Forest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295400"/>
            <a:ext cx="8001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The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takes a combined input of Word2Vec embedding + scaled numeric features (price, rating, popularity) + one-hot category, forming a ~107-dimensional vector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Its encoder compresses this into a 64-dimensional latent vector, capturing the important hidden patterns across text, price, and category together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This latent representation enables more accurate, context-aware product similarity compared to surface-level text models like TF-IDF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43000"/>
            <a:ext cx="4350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Re-Ranking (Score Fusion)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905000"/>
            <a:ext cx="7924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After generating recommendations from ML and Deep Learning models, a Re-Ranking step is applied to refine the final Top-N product list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This step combines multiple signals to ensure the recommendations are not only relevant, but also useful and practical for the user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The system calculates three key scores: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s_ML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similarity score from TF-IDF + KNN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s_DL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semantic similarity score from Deep KNN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s_meta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optional score based on business/user rules (ratings, price fit, diversity, brand preference)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43000"/>
            <a:ext cx="7848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scores are fused to generate an overall ranking using a weighted formula: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FinalScore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α·s_DL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β·s_ML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γ·s_meta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(α ≥ β &gt; γ)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Example: α=0.6, β=0.3, γ=0.1 (gives more importance to deep learning model)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Additional re-ranking rules ensure high-quality results: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Break ties using higher rating → then popularity score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Reduce repetition of same/duplicate products to improve variety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Consider user constraints such as price range or preferred brands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Outcome: Produces a more reliable, diverse, and user-friendly final recommendation list, combining semantic relevance + keyword match + user value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990600" y="990600"/>
            <a:ext cx="6894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Hybrid Recommendation System Workflow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 b="12195"/>
          <a:stretch>
            <a:fillRect/>
          </a:stretch>
        </p:blipFill>
        <p:spPr bwMode="auto">
          <a:xfrm>
            <a:off x="990600" y="1828800"/>
            <a:ext cx="7086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5423" y="1828800"/>
            <a:ext cx="403490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33400" y="838200"/>
            <a:ext cx="794198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RESULTS AND DISCUSSIONS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22098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81000" y="5943600"/>
            <a:ext cx="3578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Random Forest Accuracy: 99.66%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905000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Random Forest was used for multi-class product category classification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Model performs consistently across all categories including minority class (Office Products)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Demonstrates strong capability for category prediction useful in filtering &amp; recommendation ranking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800" y="5105400"/>
            <a:ext cx="3886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Fig: Random Forest Classification Performance</a:t>
            </a:r>
          </a:p>
        </p:txBody>
      </p:sp>
      <p:pic>
        <p:nvPicPr>
          <p:cNvPr id="12" name="Picture 1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 r="6178" b="95"/>
          <a:stretch>
            <a:fillRect/>
          </a:stretch>
        </p:blipFill>
        <p:spPr bwMode="auto">
          <a:xfrm>
            <a:off x="4800600" y="990600"/>
            <a:ext cx="3949832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638800" y="4267200"/>
            <a:ext cx="2518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Fig: SVM Classification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191000"/>
            <a:ext cx="274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SVM Accuracy: 98.63% 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1219200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SVM used for multi-class product category classification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Performs well in high-dimensional feature space (TF-IDF text + numeric features)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Very high precision and recall across major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80060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SVM delivered strong performance close to Random Forest, making it a reliable model for category prediction with high generalization capability.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data:image/png;base64,iVBORw0KGgoAAAANSUhEUgAAAjYAAAGJCAYAAACZwnkIAAAAOnRFWHRTb2Z0d2FyZQBNYXRwbG90bGliIHZlcnNpb24zLjEwLjAsIGh0dHBzOi8vbWF0cGxvdGxpYi5vcmcvlHJYcgAAAAlwSFlzAAAPYQAAD2EBqD+naQAAalZJREFUeJzt3Xl4TNf/B/D3ZJnJvpJVRGxBEFtFEKFSoRS1h9oafGspqlXUvmvsaitaUfvS2tdY0xJBrLGklliKBCEbss2c3x+eub+MbBMiicn79TzzMPd85t7PzNyZ+eTec86VCSEEiIiIiHSAXlEnQERERFRQWNgQERGRzmBhQ0RERDqDhQ0RERHpDBY2REREpDNY2BAREZHOYGFDREREOoOFDREREekMFjZERESkM1jYUL5MmjQJMpmsULbVtGlTNG3aVLp//PhxyGQybNu2rVC236dPH5QrV65QtvWukpOT0a9fPzg4OEAmk2H48OFFnZKGu3fvQiaTITg4uMDWGRwcDJlMhrt37xbYOj9GH+K1pfwLCgpClSpVoFKpijqVAtOgQQP8+OOPRZ3GO2NhU4KpfyDUNyMjIzg5OcHf3x+LFi1CUlJSgWzn0aNHmDRpEi5evFgg6ytIxTk3bcyYMQPBwcEYOHAg1q5di549e+YYm5aWhoULF6J27dqwsLCAlZUVPDw8MGDAANy4caMQsy4c6iLc3t4er169ytJerlw5tGnTpggyK37URVJ2twYNGnyQbX7snz0ASExMxM8//4xRo0ZBT0/z53TXrl2oU6cOjIyMULZsWUycOBEZGRl5rvPatWuYNGlSgRfuycnJmDhxIlq2bAkbG5tci+JRo0ZhyZIliImJKdAcCotBUSdARW/KlClwc3NDeno6YmJicPz4cQwfPhzz5s3Drl27ULNmTSl23LhxGD16dL7W/+jRI0yePBnlypVDrVq1tH7coUOH8rWdd5FbbitXriz2f4UdPXoUDRo0wMSJE/OM7dixI/bv34+AgAD0798f6enpuHHjBvbs2YOGDRuiSpUqhZBx4Xvy5AmWLVuG77//vqhTKVCurq54/fo1DA0NC2ydAQEB+PzzzzWWlS5dusDWn9m7fi8UJ7///jsyMjIQEBCgsXz//v1o3749mjZtil9++QVXrlzBtGnTpH0xN9euXcPkyZPRtGnTAj1i/OzZM0yZMgVly5aFp6cnjh8/nmNsu3btYGFhgaVLl2LKlCkFlkNhYWFDaNWqFerVqyfdHzNmDI4ePYo2bdqgbdu2uH79OoyNjQEABgYGMDD4sLvNq1evYGJiArlc/kG3k5eC/MH4UJ48eYJq1arlGXf27Fns2bMH06dPx08//aTRtnjxYsTHx3+gDIterVq1MHv2bAwaNEjajz9mGRkZUKlUkMvlMDIyKtB116lTB1999VWBrrOwpaSkQC6XZzmC8iGsXr0abdu2zfI+/PDDD6hZsyYOHTokfV9aWFhgxowZGDZsWJH8EeHo6IjHjx/DwcEB586dwyeffJJjrJ6eHjp16oQ//vgDkydPLrTuBwWFp6IoW59++inGjx+Pe/fuYd26ddLy7PrYhISEoHHjxrCysoKZmRnc3d2lH8/jx49LH6C+fftKh7fVh0CbNm2K6tWrIyIiAk2aNIGJiYn02Lf72KgplUr89NNPcHBwgKmpKdq2bYsHDx5oxJQrVw59+vTJ8tjM68wrt+z62Lx8+RLff/89XFxcoFAo4O7ujjlz5kAIoREnk8kwZMgQ7NixA9WrV4dCoYCHhwcOHDiQ/Qv+lidPniAwMBD29vYwMjKCp6cn1qxZI7Wr+xtFR0dj7969Uu45Hb6+ffs2AKBRo0ZZ2vT19WFra6ux7OHDhwgMDISTkxMUCgXc3NwwcOBApKWlAQCeP3+OH374ATVq1ICZmRksLCzQqlUrXLp0Savnd+PGDXTq1Ak2NjYwMjJCvXr1sGvXrixxV69exaeffgpjY2OUKVMG06ZNy/dRtAkTJiA2NjbPv5TVr+nbf8lm15elT58+MDMzw/3799GmTRuYmZnB2dkZS5YsAQBcuXIFn376KUxNTeHq6ooNGzZk2V58fDyGDx8u7UsVK1bEzz//rPH81NueM2cOFixYgAoVKkChUODatWs59rG5ceMGunTpgtKlS8PY2Bju7u4YO3Zsvl6znGjzvmmzb+T12dPm86tej0wmw6ZNmzBu3Dg4OzvDxMQEiYmJAIDw8HC0bNkSlpaWMDExga+vL06ePKmxzqSkJAwfPhzlypWDQqGAnZ0dPvvsM5w/fz7X1yI6OhqXL1+Gn5+fxvJr167h2rVrGDBggMYfgYMGDYIQItc+gsHBwejcuTMAoFmzZtLrknmfXLp0KTw8PKBQKODk5ITBgwdr9YeJQqGAg4NDnnFqn332Ge7du/dRnirkERvKUc+ePfHTTz/h0KFD6N+/f7YxV69eRZs2bVCzZk1MmTIFCoUCt27dkr48qlatiilTpmDChAkYMGAAfHx8AAANGzaU1hEXF4dWrVqhW7du+Oqrr2Bvb59rXtOnT4dMJsOoUaPw5MkTLFiwAH5+frh48WK+/iLXJrfMhBBo27Ytjh07hsDAQNSqVQsHDx7EyJEj8fDhQ8yfP18j/p9//sFff/2FQYMGwdzcHIsWLULHjh1x//79LIVEZq9fv0bTpk1x69YtDBkyBG5ubti6dSv69OmD+Ph4DBs2DFWrVsXatWvx3XffoUyZMtJplpxOG7i6ugIA1q9fj0aNGuV61O3Ro0eoX78+4uPjMWDAAFSpUgUPHz7Etm3b8OrVK8jlcty5cwc7duxA586d4ebmhtjYWPz666/w9fXFtWvX4OTklOP6r169ikaNGsHZ2RmjR4+GqakptmzZgvbt2+PPP//El19+CQCIiYlBs2bNkJGRIcWtWLEi30ddfHx88OmnnyIoKAgDBw4ssKM2SqUSrVq1QpMmTRAUFIT169djyJAhMDU1xdixY9GjRw906NABy5cvR69eveDt7Q03NzcAb45K+vr64uHDh/jf//6HsmXL4tSpUxgzZgweP36MBQsWaGxr9erVSElJwYABA6BQKGBjY5NtgXf58mX4+PjA0NAQAwYMQLly5XD79m3s3r0b06dPz/M5vXr1Cs+ePdNYZmlpCUNDQ63fN232jfx+9vIydepUyOVy/PDDD0hNTYVcLsfRo0fRqlUr1K1bFxMnToSenh5Wr16NTz/9FH///Tfq168PAPjmm2+wbds2DBkyBNWqVUNcXBz++ecfXL9+HXXq1Mlxm6dOnQKALDEXLlwAAI2j4ADg5OSEMmXKSO3ZadKkCYYOHYpFixbhp59+QtWqVQFA+nfSpEmYPHky/Pz8MHDgQERFRWHZsmU4e/YsTp48WaBHmevWrQsAOHnyJGrXrl1g6y0Ugkqs1atXCwDi7NmzOcZYWlqK2rVrS/cnTpwoMu828+fPFwDE06dPc1zH2bNnBQCxevXqLG2+vr4CgFi+fHm2bb6+vtL9Y8eOCQDC2dlZJCYmSsu3bNkiAIiFCxdKy1xdXUXv3r3zXGduufXu3Vu4urpK93fs2CEAiGnTpmnEderUSchkMnHr1i1pGQAhl8s1ll26dEkAEL/88kuWbWW2YMECAUCsW7dOWpaWlia8vb2FmZmZxnN3dXUVrVu3znV9QgihUqmk19re3l4EBASIJUuWiHv37mWJ7dWrl9DT08t2v1CpVEIIIVJSUoRSqdRoi46OFgqFQkyZMkVj2duvb/PmzUWNGjVESkqKxnobNmwoKlWqJC0bPny4ACDCw8OlZU+ePBGWlpYCgIiOjs71Oav31adPn4oTJ04IAGLevHlS+9uvnXr/OnbsWJbn9fZz6N27twAgZsyYIS178eKFMDY2FjKZTGzatElafuPGDQFATJw4UVo2depUYWpqKv7991+NbY0ePVro6+uL+/fva2zbwsJCPHnyJM+8mjRpIszNzbO8r+r3LSfqdWV3U78e2r5v2u4buX32tP38qt+z8uXLi1evXmnkValSJeHv76/x3F+9eiXc3NzEZ599Ji2ztLQUgwcPzvX1yc64ceMEAJGUlKSxfPbs2QKA9B5m9sknn4gGDRrkut6tW7dmux8+efJEyOVy0aJFC43Xd/HixQKA+P3337XOPbfXPjO5XC4GDhyo9XqLC56KolyZmZnlOjrKysoKALBz58537mirUCjQt29freN79eoFc3Nz6X6nTp3g6OiIffv2vdP2tbVv3z7o6+tj6NChGsu///57CCGwf/9+jeV+fn6oUKGCdL9mzZqwsLDAnTt38tyOg4ODRodEQ0NDDB06FMnJyThx4kS+c5fJZDh48CCmTZsGa2trbNy4EYMHD4arqyu6du0qHcpWqVTYsWMHvvjiiyx/carXA7x5z9R9GJRKJeLi4qTTkLkdwn/+/DmOHj2KLl26ICkpCc+ePcOzZ88QFxcHf39/3Lx5Ew8fPpRehwYNGkh/WQNvjkj16NEj38+/SZMmaNasGYKCgvD69et8Pz4n/fr1k/5vZWUFd3d3mJqaokuXLtJyd3d3WFlZabzvW7duhY+PD6ytraXX4NmzZ/Dz84NSqURoaKjGdjp27JhnJ96nT58iNDQUX3/9NcqWLavRpm0fiQEDBiAkJETj5unpma/37V33jffRu3dvjSNxFy9exM2bN9G9e3fExcVJ+b58+RLNmzdHaGio9H1lZWWF8PBwPHr0KF/bjIuLg4GBAczMzDSWq/cvhUKR5TFGRkbvvP8dPnwYaWlpGD58uEb/of79+8PCwgJ79+59p/XmRr1/fmx4KopylZycDDs7uxzbu3btilWrVqFfv34YPXo0mjdvjg4dOqBTp05ad95zdnbOV0fhSpUqadyXyWSoWLHiB5/X5N69e3ByctIoqoD/P0x87949jeVv/7gAb74oXrx4ked2KlWqlOX1y2k72lIoFBg7dizGjh2Lx48f48SJE1i4cCG2bNkCQ0NDrFu3Dk+fPkViYiKqV6+e67pUKhUWLlyIpUuXIjo6GkqlUmrL7TTbrVu3IITA+PHjMX78+Gxjnjx5AmdnZ9y7dw9eXl5Z2t3d3bV8xpomTZoEX19fLF++HN999907rSMzIyOjLMWGpaUlypQpk6WQsLS01Hjfb968icuXL+dYrDx58kTjvvoUVm7UhVNe711uKlWqlKXPCACcOXNG6/ftXfeN9/H263Pz5k0AbwqenCQkJMDa2hpBQUHo3bs3XFxcULduXXz++efo1asXypcv/065qAus1NTULG0pKSnvfCpU/bl/e/+Xy+UoX778O38v5EYI8dF1HAZY2FAu/vvvPyQkJKBixYo5xhgbGyM0NBTHjh3D3r17ceDAAWzevBmffvopDh06BH19/Ty38yFGquT0YVQqlVrlVBBy2o54q6NxUXB0dES3bt3QsWNHeHh4YMuWLfma6G3GjBkYP348vv76a0ydOhU2NjbQ09PD8OHDcz1yp2774Ycf4O/vn21Mbvvb+2jSpAmaNm2KoKAgfPPNN1nac9tnspPT+6vN+65SqfDZZ5/lOAla5cqVNe4X9Wiu/Lxv77pvZJbfz+/br496O7Nnz85xKLn6SEuXLl3g4+OD7du349ChQ5g9ezZ+/vln/PXXX2jVqlWOOdra2iIjIwNJSUkaf+w4OjoCAB4/fgwXFxeNxzx+/FjjCGRxFx8fj1KlShV1GvnGwoZytHbtWgDI8YtMTU9PD82bN0fz5s0xb948zJgxA2PHjsWxY8fg5+dX4BW/+q8xNSEEbt26pTHfjrW1dbYjBe7du6fxl1h+cnN1dcXhw4ezfJGpJ7dTd9B9X66urrh8+TJUKpXGUZuC3g7w5hRXzZo1cfPmTTx79gx2dnawsLBAZGRkro/btm0bmjVrht9++01jeV5fhOrX3tDQMNsjA5m5urpmea8BICoqKtfH5WbSpElo2rQpfv311yxt1tbWAJBlv/kQfwlXqFABycnJeb4G+aF+bfN6795n3dq8b9ruG7l99rT9/OZEfQrYwsJCq9fY0dERgwYNwqBBg/DkyRPUqVMH06dPz7WwUQ/Zjo6O1vjuURdS586d0yhiHj16hP/++w8DBgzINZecXhf15z4qKkrjNUhLS0N0dHSB7kvAm5GRaWlp0pHijwn72FC2jh49iqlTp8LNzS3XPg3Pnz/Pskz9wVYfijU1NQWQ9QfjXf3xxx8a/X62bduGx48fa3wJVahQAadPn5aGJwPAnj17sgwLz09un3/+OZRKJRYvXqyxfP78+ZDJZLl+CebH559/jpiYGGzevFlalpGRgV9++QVmZmbw9fXN9zpv3ryJ+/fvZ1keHx+PsLAwWFtbo3Tp0tDT00P79u2xe/dunDt3Lku8+qiDvr5+liNPW7dulfpZ5MTOzk4qLB4/fpyl/enTp9L/P//8c5w+fRpnzpzRaF+/fn3uTzYXvr6+aNq0KX7++WekpKRotLm6ukJfXz9L/5alS5e+8/Zy0qVLF4SFheHgwYNZ2uLj47WaofZtpUuXRpMmTfD7779nea/f9yhhft43bfeN3D572n5+c1K3bl1UqFABc+bMQXJyco75KpVKJCQkaLTZ2dnByckp21NJmXl7ewNAls+Jh4cHqlSpghUrVmgc7Vu2bBlkMhk6deqU63pzel38/Pwgl8uxaNEijdf3t99+Q0JCAlq3bp3revMrIiICwLuPVCtKPGJD2L9/P27cuIGMjAzExsbi6NGjCAkJgaurK3bt2pXrJGBTpkxBaGgoWrduDVdXVzx58gRLly5FmTJl0LhxYwBvvqSsrKywfPlymJubw9TUFF5eXlr1G8iOjY0NGjdujL59+yI2NhYLFixAxYoVNYak9+vXD9u2bUPLli3RpUsX3L59G+vWrdPozJvf3L744gs0a9YMY8eOxd27d+Hp6YlDhw5h586dGD58eJZ1v6sBAwbg119/RZ8+fRAREYFy5cph27ZtOHnyJBYsWJClj482Ll26hO7du6NVq1bw8fGBjY0NHj58iDVr1uDRo0dYsGCBdIh/xowZOHToEHx9fTFgwABUrVoVjx8/xtatW/HPP//AysoKbdq0wZQpU9C3b180bNgQV65cwfr167X6a3rJkiVo3LgxatSogf79+6N8+fKIjY1FWFgY/vvvP2m+kx9//BFr165Fy5YtMWzYMGm4t/qI1ruaOHEimjVrlmW5paUlOnfujF9++QUymQwVKlTAnj17svR3KQgjR47Erl270KZNG/Tp0wd169bFy5cvceXKFWzbtg137959p1MAixYtQuPGjVGnTh0MGDAAbm5uuHv3Lvbu3fve85Fo+75pu2/k9tnT9vObEz09PaxatQqtWrWCh4cH+vbtC2dnZzx8+BDHjh2DhYUFdu/ejaSkJJQpUwadOnWCp6cnzMzMcPjwYZw9exZz587NdRvly5dH9erVcfjwYXz99dcabbNnz0bbtm3RokULdOvWDZGRkVi8eDH69euX5xGQWrVqQV9fHz///DMSEhKgUCjw6aefws7ODmPGjMHkyZPRsmVLtG3bFlFRUVi6dCk++eQTrSZWVE/Gqe4ovXv3bvz3338AgG+//RaWlpZSbEhICMqWLfvxDfUGONy7JFMP91bf5HK5cHBwEJ999plYuHChxrBitbeHex85ckS0a9dOODk5CblcLpycnERAQECWYaw7d+4U1apVEwYGBhrDDH19fYWHh0e2+eU0tHPjxo1izJgxws7OThgbG4vWrVtnO2x57ty5wtnZWSgUCtGoUSNx7ty5LOvMLbe3h3sLIURSUpL47rvvhJOTkzA0NBSVKlUSs2fPzjKcFkC2Q0hzGsb6ttjYWNG3b19RqlQpIZfLRY0aNXIcFqvNcO/Y2Fgxa9Ys4evrKxwdHYWBgYGwtrYWn376qdi2bVuW+Hv37olevXqJ0qVLC4VCIcqXLy8GDx4sUlNThRBvhvR+//33wtHRURgbG4tGjRqJsLCwLK9vdkOShRDi9u3bolevXsLBwUEYGhoKZ2dn0aZNmyy5XL58Wfj6+gojIyPh7Owspk6dKn777bd8D/d+m3ro+9uv3dOnT0XHjh2FiYmJsLa2Fv/73/9EZGRktsO9TU1Ns11vdvtzdu9TUlKSGDNmjKhYsaKQy+WiVKlSomHDhmLOnDkiLS1NCPH/r9/s2bOzrDOn1zYyMlJ8+eWXwsrKShgZGQl3d3cxfvz4HF+nvLaTmTbvm7b7hhA5f/aE0O7zq/5O2Lp1a7b5XrhwQXTo0EHY2toKhUIhXF1dRZcuXcSRI0eEEEKkpqaKkSNHCk9PT2Fubi5MTU2Fp6enWLp0aa6vg9q8efOEmZmZxlBzte3bt4tatWoJhUIhypQpI8aNGye9r3lZuXKlKF++vNDX188y9Hvx4sWiSpUqwtDQUNjb24uBAweKFy9eaLVeV1fXHIf1Z/48KZVK4ejoKMaNG6fVeosbmRDFoCcjERHRRyYhIQHly5dHUFAQAgMDizqdArNjxw50794dt2/fljpDf0xY2BAREb2jn3/+GatXr8a1a9cK5fpUhcHb2xs+Pj4ICgoq6lTeCQsbIiIi0hm6UV4SERERgYUNERER6RAWNkRERKQzWNgQERGRzuAEfYVIpVLh0aNHMDc3/ygvLEZERFRUhBBISkqCk5NTriPQWNgUokePHmW5KBoRERFp78GDByhTpkyO7SxsCpF6KvwHDx7AwsKiiLMhIiL6eCQmJsLFxSXPy8qwsClE6tNPFhYWLGyIiIjeQV5dOdh5mIiIiHQGCxsiIiLSGSxsiIiISGewsCEiIiKdwcKGiIiIdAYLGyIiItIZHO5NxZZSqcTly5cRFxcHW1tb1KxZE/r6+kWdFhERFWNFesQmNDQUX3zxBZycnCCTybBjx44cY7/55hvIZDIsWLBAY/nz58/Ro0cPWFhYwMrKCoGBgUhOTtaIuXz5Mnx8fGBkZAQXFxcEBQVlWf/WrVtRpUoVGBkZoUaNGti3b59GuxACEyZMgKOjI4yNjeHn54ebN2++83On3J04cQIBAQEYNmwYpkyZgmHDhiEgIAAnTpwo6tSIiKgYK9LC5uXLl/D09MSSJUtyjdu+fTtOnz4NJyenLG09evTA1atXERISgj179iA0NBQDBgyQ2hMTE9GiRQu4uroiIiICs2fPxqRJk7BixQop5tSpUwgICEBgYCAuXLiA9u3bo3379oiMjJRigoKCsGjRIixfvhzh4eEwNTWFv78/UlJSCuCVoMxOnDiBCRMmoHz58li2bBkOHDiAZcuWoXz58pgwYQKLGyIiypkoJgCI7du3Z1n+33//CWdnZxEZGSlcXV3F/PnzpbZr164JAOLs2bPSsv379wuZTCYePnwohBBi6dKlwtraWqSmpkoxo0aNEu7u7tL9Ll26iNatW2ts18vLS/zvf/8TQgihUqmEg4ODmD17ttQeHx8vFAqF2LhxY47PKSUlRSQkJEi3Bw8eCAAiISFBuxelBMrIyBCdO3cWo0aNEkqlUqNNqVSKUaNGiS5duoiMjIwiypCIiIpCQkKCVr+hxbrzsEqlQs+ePTFy5Eh4eHhkaQ8LC4OVlRXq1asnLfPz84Oenh7Cw8OlmCZNmkAul0sx/v7+iIqKwosXL6QYPz8/jXX7+/sjLCwMABAdHY2YmBiNGEtLS3h5eUkx2Zk5cyYsLS2lGy+AmbfLly8jJiYGPXv2zHL1Vj09PXz11Vd4/PgxLl++XEQZEhFRcVasC5uff/4ZBgYGGDp0aLbtMTExsLOz01hmYGAAGxsbxMTESDH29vYaMer7ecVkbs/8uOxisjNmzBgkJCRItwcPHuT6fAmIi4sDALi5uWXbXr58eY04IiKizIrtqKiIiAgsXLgQ58+fz/OCV8WVQqGAQqEo6jQ+Kra2tgDeHCXL7ijdnTt3NOKIiIgyK7ZHbP7++288efIEZcuWhYGBAQwMDHDv3j18//33KFeuHADAwcEBT5480XhcRkYGnj9/DgcHBykmNjZWI0Z9P6+YzO2ZH5ddDBWMmjVrwsHBAWvXroVKpdJoU6lUWLduHRwdHVGzZs0iypCIiIqzYlvY9OzZE5cvX8bFixelm5OTE0aOHImDBw8CALy9vREfH4+IiAjpcUePHoVKpYKXl5cUExoaivT0dCkmJCQE7u7usLa2lmKOHDmisf2QkBB4e3sDeHNaxMHBQSMmMTER4eHhUgwVDH19fQwePBhhYWH46aefEBkZiVevXiEyMhI//fQTwsLCMGjQIM5nQ0RE2SukzszZSkpKEhcuXBAXLlwQAMS8efPEhQsXxL1797KNf3tUlBBCtGzZUtSuXVuEh4eLf/75R1SqVEkEBARI7fHx8cLe3l707NlTREZGik2bNgkTExPx66+/SjEnT54UBgYGYs6cOeL69eti4sSJwtDQUFy5ckWKmTVrlrCyshI7d+4Uly9fFu3atRNubm7i9evXWj9fbXt0kxDHjx8XnTt3Fj4+PtKtS5cu4vjx40WdGhERFQFtf0OLtLA5duyYAJDl1rt372zjsyts4uLiREBAgDAzMxMWFhaib9++IikpSSPm0qVLonHjxkKhUAhnZ2cxa9asLOvesmWLqFy5spDL5cLDw0Ps3btXo12lUonx48cLe3t7oVAoRPPmzUVUVFS+ni8Lm/zJyMgQ58+fFyEhIeL8+fMc4k1EVIJp+xsqE0KIojpaVNIkJibC0tISCQkJsLCwKOp0iIiIPhra/oYW2z42RERERPnFwoaIiIh0BgsbIiIi0hksbIiIiEhnsLAhIiIincHChoiIiHQGCxsiIiLSGSxsiIiISGewsCEiIiKdwcKGiIiIdAYLGyIiItIZLGyIiIhIZ7CwISIiIp3BwoaIiIh0BgsbIiIi0hksbIiIiEhnsLAhIiIincHChoiIiHQGCxsiIiLSGSxsiIiISGewsCEiIiKdwcKGiIiIdAYLGyIiItIZLGyIiIhIZ7CwISIiIp3BwoaIiIh0BgsbIiIi0hksbIiIiEhnsLAhIiIinVGkhU1oaCi++OILODk5QSaTYceOHVJbeno6Ro0ahRo1asDU1BROTk7o1asXHj16pLGO58+fo0ePHrCwsICVlRUCAwORnJysEXP58mX4+PjAyMgILi4uCAoKypLL1q1bUaVKFRgZGaFGjRrYt2+fRrsQAhMmTICjoyOMjY3h5+eHmzdvFtyLQURERO+tSAubly9fwtPTE0uWLMnS9urVK5w/fx7jx4/H+fPn8ddffyEqKgpt27bViOvRoweuXr2KkJAQ7NmzB6GhoRgwYIDUnpiYiBYtWsDV1RURERGYPXs2Jk2ahBUrVkgxp06dQkBAAAIDA3HhwgW0b98e7du3R2RkpBQTFBSERYsWYfny5QgPD4epqSn8/f2RkpLyAV4ZIiIieieimAAgtm/fnmvMmTNnBABx7949IYQQ165dEwDE2bNnpZj9+/cLmUwmHj58KIQQYunSpcLa2lqkpqZKMaNGjRLu7u7S/S5duojWrVtrbMvLy0v873//E0IIoVKphIODg5g9e7bUHh8fLxQKhdi4cWOO+aakpIiEhATp9uDBAwFAJCQk5PFqEBERUWYJCQla/YZ+VH1sEhISIJPJYGVlBQAICwuDlZUV6tWrJ8X4+flBT08P4eHhUkyTJk0gl8ulGH9/f0RFReHFixdSjJ+fn8a2/P39ERYWBgCIjo5GTEyMRoylpSW8vLykmOzMnDkTlpaW0s3FxeX9XgAiIiLK1UdT2KSkpGDUqFEICAiAhYUFACAmJgZ2dnYacQYGBrCxsUFMTIwUY29vrxGjvp9XTOb2zI/LLiY7Y8aMQUJCgnR78OBBvp4zERER5Y9BUSegjfT0dHTp0gVCCCxbtqyo09GaQqGAQqEo6jSIiIhKjGJ/xEZd1Ny7dw8hISHS0RoAcHBwwJMnTzTiMzIy8Pz5czg4OEgxsbGxGjHq+3nFZG7P/LjsYoiIiKjoFevCRl3U3Lx5E4cPH4atra1Gu7e3N+Lj4xERESEtO3r0KFQqFby8vKSY0NBQpKenSzEhISFwd3eHtbW1FHPkyBGNdYeEhMDb2xsA4ObmBgcHB42YxMREhIeHSzFERERU9Iq0sElOTsbFixdx8eJFAG866V68eBH3799Heno6OnXqhHPnzmH9+vVQKpWIiYlBTEwM0tLSAABVq1ZFy5Yt0b9/f5w5cwYnT57EkCFD0K1bNzg5OQEAunfvDrlcjsDAQFy9ehWbN2/GwoULMWLECCmPYcOG4cCBA5g7dy5u3LiBSZMm4dy5cxgyZAgAQCaTYfjw4Zg2bRp27dqFK1euoFevXnByckL79u0L9TUjIiKiXBTOIK3sHTt2TADIcuvdu7eIjo7Otg2AOHbsmLSOuLg4ERAQIMzMzISFhYXo27evSEpK0tjOpUuXROPGjYVCoRDOzs5i1qxZWXLZsmWLqFy5spDL5cLDw0Ps3btXo12lUonx48cLe3t7oVAoRPPmzUVUVFS+nq+2Q9WIiIhIk7a/oTIhhCiSiqoESkxMhKWlJRISEjT6ChEREVHutP0NLdZ9bIiIiIjyg4UNERER6QwWNkRERKQzWNgQERGRzmBhQ0RERDqDhQ0RERHpDBY2REREpDNY2BAREZHOYGFDREREOoOFDREREekMFjZERESkM1jYEBERkc5gYUNEREQ6g4UNERER6QwWNkRERKQzWNgQERGRzmBhQ0RERDqDhQ0RERHpDBY2REREpDNY2BAREZHOYGFDREREOoOFDREREekMFjZERESkM1jYEBERkc5gYUNEREQ6g4UNERER6QwWNkRERKQzWNgQERGRzmBhQ0RERDqjSAub0NBQfPHFF3BycoJMJsOOHTs02oUQmDBhAhwdHWFsbAw/Pz/cvHlTI+b58+fo0aMHLCwsYGVlhcDAQCQnJ2vEXL58GT4+PjAyMoKLiwuCgoKy5LJ161ZUqVIFRkZGqFGjBvbt25fvXIiIiKhoFWlh8/LlS3h6emLJkiXZtgcFBWHRokVYvnw5wsPDYWpqCn9/f6SkpEgxPXr0wNWrVxESEoI9e/YgNDQUAwYMkNoTExPRokULuLq6IiIiArNnz8akSZOwYsUKKebUqVMICAhAYGAgLly4gPbt26N9+/aIjIzMVy5ERERUxEQxAUBs375duq9SqYSDg4OYPXu2tCw+Pl4oFAqxceNGIYQQ165dEwDE2bNnpZj9+/cLmUwmHj58KIQQYunSpcLa2lqkpqZKMaNGjRLu7u7S/S5duojWrVtr5OPl5SX+97//aZ1LdlJSUkRCQoJ0e/DggQAgEhIS8vPSEBERlXgJCQla/YYW2z420dHRiImJgZ+fn7TM0tISXl5eCAsLAwCEhYXBysoK9erVk2L8/Pygp6eH8PBwKaZJkyaQy+VSjL+/P6KiovDixQspJvN21DHq7WiTS3ZmzpwJS0tL6ebi4vKuLwcRERFpodgWNjExMQAAe3t7jeX29vZSW0xMDOzs7DTaDQwMYGNjoxGT3ToybyOnmMzteeWSnTFjxiAhIUG6PXjwII9nTURERO/DoKgT0GUKhQIKhaKo0yAiIioxiu0RGwcHBwBAbGysxvLY2FipzcHBAU+ePNFoz8jIwPPnzzVisltH5m3kFJO5Pa9ciIiIqOgV28LGzc0NDg4OOHLkiLQsMTER4eHh8Pb2BgB4e3sjPj4eERERUszRo0ehUqng5eUlxYSGhiI9PV2KCQkJgbu7O6ytraWYzNtRx6i3o00uREREVAwUUmfmbCUlJYkLFy6ICxcuCABi3rx54sKFC+LevXtCCCFmzZolrKysxM6dO8Xly5dFu3bthJubm3j9+rW0jpYtW4ratWuL8PBw8c8//4hKlSqJgIAAqT0+Pl7Y29uLnj17isjISLFp0yZhYmIifv31Vynm5MmTwsDAQMyZM0dcv35dTJw4URgaGoorV65IMdrkkhdte3QTERGRJm1/Q4u0sDl27JgAkOXWu3dvIcSbYdbjx48X9vb2QqFQiObNm4uoqCiNdcTFxYmAgABhZmYmLCwsRN++fUVSUpJGzKVLl0Tjxo2FQqEQzs7OYtasWVly2bJli6hcubKQy+XCw8ND7N27V6Ndm1zywsKGiIjo3Wj7GyoTQoiiOlpU0iQmJsLS0hIJCQmwsLAo6nSIiIg+Gtr+hhbbPjZERERE+cXChoiIiHQGCxsiIiLSGSxsiIiISGewsCEiIiKdwcKGiIiIdAYLGyIiItIZLGyIiIhIZ7CwISIiIp3BwoaIiIh0xnsVNikpKQWVBxEREdF7y3dho1KpMHXqVDg7O8PMzAx37twBAIwfPx6//fZbgSdIREREpK18FzbTpk1DcHAwgoKCIJfLpeXVq1fHqlWrCjQ5IiIiovzId2Hzxx9/YMWKFejRowf09fWl5Z6enrhx40aBJkdERESUH/kubB4+fIiKFStmWa5SqZCenl4gSRERERG9i3wXNtWqVcPff/+dZfm2bdtQu3btAkmKiIiI6F0Y5PcBEyZMQO/evfHw4UOoVCr89ddfiIqKwh9//IE9e/Z8iByJiIiItJLvIzbt2rXD7t27cfjwYZiammLChAm4fv06du/ejc8+++xD5EgllFKpxIULF3D48GFcuHABSqWyqFMiIqJiTiaEEEWdREmRmJgIS0tLJCQkwMLCoqjTKdZOnDiBJUuWICYmRlrm4OCAwYMHw9fXtwgzIyKioqDtbyhnHqZi58SJE5gwYQLKly+PZcuW4cCBA1i2bBnKly+PCRMm4MSJE0WdIhERFVP5PmKjp6cHmUyWYztPF+SMR2zyplQqERAQgPLly2PGjBnQ0/v/2lulUuGnn35CdHQ0NmzYoDHdABER6TZtf0Pz3Xl4+/btGvfT09Nx4cIFrFmzBpMnT85/pkSZXL58GTExMZg4caJGUQO8Kaq/+uorDBo0CJcvX+YoPCIiyiLfhU27du2yLOvUqRM8PDywefNmBAYGFkhiVDLFxcUBANzc3LJtL1++vEYcERFRZgXWx6ZBgwY4cuRIQa2OSihbW1sAQHR0dLbt6muTqeOIiIgyK5DC5vXr11i0aBGcnZ0LYnVUgtWsWRMODg5Yu3YtVCqVRptKpcK6devg6OiImjVrFlGGRERUnOX7VJS1tbVG52EhBJKSkmBiYoJ169YVaHJU8ujr62Pw4MGYMGECfvrpJ3z11VcoX7487ty5g3Xr1iEsLAxTpkxhx2EiIspWvkdFBQcHaxQ2enp6KF26NLy8vGBtbV3gCeoSjorSXnbz2Dg6OmLQoEGcx4aIqATS9jeUE/QVIhY2+ZOWloYdO3bg0aNHcHJyQvv27SGXy4s6LSIiKgIFOtz78uXLWm+YfR+oIGR3xGbbtm2ceZiIiHKlVefhWrVqoXbt2qhVq1aut4KeV0SpVGL8+PFwc3ODsbExKlSogKlTpyLzQSYhBCZMmABHR0cYGxvDz88PN2/e1FjP8+fP0aNHD1hYWMDKygqBgYFITk7WiLl8+TJ8fHxgZGQEFxcXBAUFZcln69atqFKlCoyMjFCjRg3s27evQJ8vvcGZh4mI6J0JLdy9e1frW0GaPn26sLW1FXv27BHR0dFi69atwszMTCxcuFCKmTVrlrC0tBQ7duwQly5dEm3bthVubm7i9evXUkzLli2Fp6enOH36tPj7779FxYoVRUBAgNSekJAg7O3tRY8ePURkZKTYuHGjMDY2Fr/++qsUc/LkSaGvry+CgoLEtWvXxLhx44ShoaG4cuWK1s8nISFBABAJCQnv+croroyMDNG5c2cxatQooVQqNdqUSqUYNWqU6NKli8jIyCiiDImIqCho+xuqVWFTVFq3bi2+/vprjWUdOnQQPXr0EEIIoVKphIODg5g9e7bUHh8fLxQKhdi4caMQQohr164JAOLs2bNSzP79+4VMJhMPHz4UQgixdOlSYW1tLVJTU6WYUaNGCXd3d+l+ly5dROvWrTVy8fLyEv/73/9yzD8lJUUkJCRItwcPHrCwycP58+eFj4+PiIyMzLb9ypUrwsfHR5w/f76QMyMioqKkbWHzzvPYXLt2DQcOHMCuXbs0bgWpYcOGOHLkCP79918AwKVLl/DPP/+gVatWAN5M4hYTEwM/Pz/pMZaWlvDy8kJYWBgAICwsDFZWVqhXr54U4+fnBz09PYSHh0sxTZo00eiY6u/vj6ioKLx48UKKybwddYx6O9mZOXMmLC0tpZuLi8v7vBwlAmceJiKi95HveWzu3LmDL7/8EleuXIFMJpP6u6iHgBfkRTBHjx6NxMREVKlSBfr6+lAqlZg+fTp69OgBAFLHUnt7e43H2dvbS20xMTGws7PTaDcwMICNjY1GzNs/pOp1xsTEwNraGjExMbluJztjxozBiBEjpPuJiYksbvKQeeZhDw+PLO2ceZiIiHKT7yM2w4YNg5ubG548eQITExNcvXoVoaGhqFevHo4fP16gyW3ZsgXr16/Hhg0bcP78eaxZswZz5szBmjVrCnQ7H4pCoYCFhYXGjXLHmYeJiOh95PuITVhYGI4ePYpSpUpBT08Penp6aNy4MWbOnImhQ4fiwoULBZbcyJEjMXr0aHTr1g0AUKNGDdy7dw8zZ85E79694eDgAACIjY2Fo6Oj9LjY2FjUqlULAODg4IAnT55orDcjIwPPnz+XHu/g4IDY2FiNGPX9vGLU7VQwMs88PGbMGHh5eUGhUCA1NRXh4eE4ffo0Zx4mIqIc5fuIjVKphLm5OQCgVKlSePToEQDA1dUVUVFRBZrcq1evoKenmaK+vr70l7ybmxscHBw0Lr6ZmJiI8PBweHt7AwC8vb0RHx+PiIgIKebo0aNQqVTw8vKSYkJDQ5Geni7FhISEwN3dXZpN2dvbO8tFPkNCQqTtUMHx9fVF165dcebMGSxYsAA///wzFixYgDNnzqBr166cx4aIiHKU7yM21atXx6VLl+Dm5gYvLy8EBQVBLpdjxYoVUsfOgvLFF19g+vTpKFu2LDw8PHDhwgXMmzcPX3/9NYA3/XqGDx+OadOmoVKlSnBzc8P48eOlWWoBoGrVqmjZsiX69++P5cuXIz09HUOGDEG3bt3g5OQEAOjevTsmT56MwMBAjBo1CpGRkVi4cCHmz58v5TJs2DD4+vpi7ty5aN26NTZt2oRz585hxYoVBfqc6c08Nps3b0aDBg3g7OyMtLQ0yOVyPHz4EJs3b4aHhweLGyIiyl5+h1sdOHBA/Pnnn0IIIW7evCnc3d2FTCYTpUqVEkeOHHmnIVw5SUxMFMOGDRNly5YVRkZGonz58mLs2LEaw7JVKpUYP368sLe3FwqFQjRv3lxERUVprCcuLk4EBAQIMzMzYWFhIfr27SuSkpI0Yi5duiQaN24sFAqFcHZ2FrNmzcqSz5YtW0TlypWFXC4XHh4eYu/evfl6PpzHJm/qeWz69esnOnXqJHx8fKRbp06dRL9+/TiPDRFRCaTtb6jW14qqV68e+vXrh+7du2fpBPv8+fMsV/2mrHitqLxduHABw4YNA/BmuH/Pnj3h5uaG6OhorF27FqdOnQIALFy4sMBnuiYiouJL299QrfvYeHp64scff4SjoyN69eqlMQLKxsaGRQ0ViKdPnwIAvLy8MGPGDHh4eMDExAQeHh6YMWOG1C9KHUdERJSZ1oXNb7/9hpiYGCxZsgT3799H8+bNUbFiRcyYMQMPHz78kDlSCRIfHw8AaNKkSZaO43p6evDx8dGIIyIiyixfo6JMTEzQp08fHD9+HP/++y+6deuGX3/9FeXKlUPr1q3x119/fag8qYSwsrICAISGhmY7j83ff/+tEUdERJTZO19SoUKFCpg2bRru3r2LjRs34vTp0+jcuXNB5kYlUOnSpQEAZ86cwU8//YTIyEi8evUKkZGR+Omnn3DmzBmNOCIioszyPdw7s+PHj2P16tX4888/YWBggP79+xdUXlRCqWcetrS0xJ07dzBo0CCpzdHREZUrV0ZiYiJnHiYiomzlu7D577//EBwcjODgYNy5cwc+Pj5YunQpOnfuDGNj4w+RI5UgmWcebtCgAbp168aZh4mISGtaD/fesmULfv/9dxw5cgR2dnbo3bs3vv76a1SsWPFD56gzONxbeydOnMCSJUs0LjLq6OiIQYMGcXI+IqISSNvfUK2P2Hz11Vdo3bo1tm/fjs8//zzLiBWigvb2leIzMjKKKBMiIvpYaH3E5smTJ7Czs/vQ+eg0HrHRzokTJzB+/Pgc26dOncqjNkREJUyBT9DHooYKg1KpxMyZMwEg23lsAGDmzJlZjuYQEREB7zHcm+hDOH/+PF69egUAqF+/PpYtW4YDBw5g2bJlqF+/PoA3V30/f/58UaZJRETFFAsbKlb2798PAChXrhxmzZqlcUmFWbNmoVy5chpxREREmbGwoWIlNjYWANCqVatsT0W1bNlSI46IiCgzFjZUrNjb2wN4c0Qmu0sqHDhwQCOOiIgoM62Ge1tbW2t99e7nz5+/V0JUsrVq1QqHDx/G3bt3MXr0aPTq1Qvly5fHnTt38Mcff+Du3btSHBER0du0KmwWLFgg/T8uLg7Tpk2Dv78/vL29AQBhYWE4ePBgrkN0ibRRp04dmJiY4NWrV9JMw2rqU1MmJiaoU6dOUaVIRETFmNbz2Kh17NgRzZo1w5AhQzSWL168GIcPH8aOHTsKMj+dwnlstMN5bIiI6G3a/obmu7AxMzPDxYsXs1xK4datW6hVqxaSk5PfLeMSgIWN9k6cOIFffvkFT548kZbZ2dnh22+/ZVFDRFQCFfgEfWq2trbYuXNnluU7d+6Era1tfldHlK2rV6/i2bNnGsuePXuGq1evFlFGRET0Mcj31b0nT56Mfv364fjx4/Dy8gIAhIeH48CBA1i5cmWBJ0glz9KlS7Fp0yZYW1ujX79+aNiwIU6dOoVVq1Zh06ZNAIBBgwYVcZZERFQc5ftUFPCmkFm0aBGuX78OAKhatSqGDh0qFTqUPZ6KyltaWhr8/f1hYWGBP//8EwYG/197Z2RkoGPHjkhMTMTBgwchl8uLMFMiIipMBX5178y8vLywfv36d06OKCc7duyAUqlEv379NIoaADAwMEBgYCDmzJmDHTt2oEuXLkWUJRERFVfvNEHf7du3MW7cOHTv3l3q3Ll//372f6D39ujRIwBAw4YNs21XL1fHERERZZbvwubEiROoUaMGwsPD8eeff0qjoC5duoSJEycWeIJUsjg5OQEATp06lW27erk6joiIKLN8FzajR4/GtGnTEBISotHH4dNPP9WYTI3oXbRv3x76+vpYtWoVMjIyNNoyMjLw22+/QV9fH+3bty+aBImIqFjLd2Fz5coVfPnll1mW29nZZRmeS5RfcrkcnTt3xosXL9CxY0fs2rULz549w65du9CxY0e8ePECnTt3ZsdhIiLKVr47D1tZWeHx48dwc3PTWH7hwgU4OzsXWGJUcqmHcm/duhVz5syRluvr66Nbt24c6k1ERDnKd2HTrVs3jBo1Clu3boVMJoNKpcLJkyfxww8/oFevXh8iRyqBBg0ahL59+2LZsmV4+PAhnJ2dMXDgQBgbGxd1akREVIzlex6btLQ0DB48GMHBwVAqlTAwMIBSqUT37t0RHBwMfX39D5XrR4/z2GjvxIkTWLRoEZ4+fSotK126NIYOHcpLKhARlUAf7JIKcrkcK1euxO3bt7Fnzx6sW7cON27cwNq1az9IUfPw4UN89dVXsLW1hbGxMWrUqIFz585J7UIITJgwAY6OjjA2Noafnx9u3rypsY7nz5+jR48esLCwgJWVFQIDA7Nc0+ry5cvw8fGBkZERXFxcEBQUlCWXrVu3okqVKjAyMkKNGjWwb9++An++9P8Xwcxc1ADA06dPMX78eJw4caKIMiMiouLuneaxAYCyZcvi888/R5cuXVCpUqWCzEny4sULNGrUCIaGhti/fz+uXbuGuXPnwtraWooJCgrCokWLsHz5coSHh8PU1BT+/v5ISUmRYnr06IGrV68iJCQEe/bsQWhoKAYMGCC1JyYmokWLFnB1dUVERARmz56NSZMmYcWKFVLMqVOnEBAQgMDAQFy4cAHt27dH+/btERkZ+UGee0mlVCoxdepUAIChoSF69OiBDRs2oEePHjA0NATw5ureSqWyKNMkIqJiSqtTUSNGjNB6hfPmzXuvhDIbPXo0Tp48ib///jvbdiEEnJyc8P333+OHH34AACQkJMDe3h7BwcHo1q0brl+/jmrVquHs2bOoV68eAODAgQP4/PPP8d9//8HJyQnLli3D2LFjERMTI422GT16NHbs2IEbN24AALp27YqXL19iz5490vYbNGiAWrVqYfny5dnml5qaitTUVOl+YmIiXFxceCoqF+Hh4Rg5ciT09fWzXDZBfbkFpVKJ2bNn8xIeREQlSIGeirpw4YJWt4sXLxZU/gCAXbt2oV69eujcuTPs7OxQu3ZtjQttRkdHIyYmBn5+ftIyS0tLeHl5ISwsDAAQFhYGKysrqagBAD8/P+jp6SE8PFyKadKkicaPqL+/P6KiovDixQspJvN21DHq7WRn5syZsLS0lG4uLi7v8WqUDJs3bwYAdOzYMcuQbrlcjg4dOmjEERERZabVqKhjx4596DyydefOHSxbtgwjRozATz/9hLNnz2Lo0KGQy+Xo3bs3YmJiAAD29vYaj7O3t5faYmJiYGdnp9FuYGAAGxsbjZi3h6+r1xkTEwNra2vExMTkup3sjBkzRuNol/qIDeUsKSkJAODh4ZFte7Vq1TTiiIiIMnuni2AWFpVKhXr16mHGjBkAgNq1ayMyMhLLly9H7969izi7vCkUCigUiqJO46NStWpVREVFYcWKFWjcuDEiIyMRFxcHW1tbVK9eXTpiV7Vq1SLOlIiIiqN3KmzOnTuHLVu24P79+0hLS9No++uvvwokMQBwdHSU/kJXq1q1Kv78808AgIODAwAgNjYWjo6OUkxsbCxq1aolxagv1KmWkZGB58+fS493cHBAbGysRoz6fl4x6nYqGAMHDsSOHTvw8OFD+Pv7a1xWwcDAQLo/cODAokqRiIiKsXyPitq0aRMaNmyI69evY/v27UhPT8fVq1dx9OhRWFpaFmhyjRo1QlRUlMayf//9F66urgAANzc3ODg44MiRI1J7YmIiwsPD4e3tDQDw9vZGfHw8IiIipJijR49CpVJJnU+9vb0RGhqK9PR0KSYkJATu7u7SCCxvb2+N7ahj1NuhgmFsbIwqVaoAQLbXigKAKlWqcKI+IiLKVr4LmxkzZmD+/PnYvXs35HI5Fi5ciBs3bqBLly4oW7ZsgSb33Xff4fTp05gxYwZu3bqFDRs2YMWKFRg8eDAAQCaTYfjw4Zg2bRp27dqFK1euoFevXnBycpIukli1alW0bNkS/fv3x5kzZ3Dy5EkMGTIE3bp1k64Q3b17d8jlcgQGBuLq1avYvHkzFi5cqNE/ZtiwYThw4ADmzp2LGzduYNKkSTh37hyGDBlSoM+5pFMqlYiPj9cY0p+ZtbU1EhISONybiIiyJ/LJxMREREdHCyGEsLGxEZcvXxZCCHHt2jXh4OCQ39Xlaffu3aJ69epCoVCIKlWqiBUrVmi0q1QqMX78eGFvby8UCoVo3ry5iIqK0oiJi4sTAQEBwszMTFhYWIi+ffuKpKQkjZhLly6Jxo0bC4VCIZydncWsWbOy5LJlyxZRuXJlIZfLhYeHh9i7d2++nktCQoIAIBISEvL1uJLk/PnzwsfHR0RGRoqkpCQxevRo0bt3bzF69GiRlJQkrly5Inx8fMT58+eLOlUiIipE2v6G5ruPjbW1tTQixdnZGZGRkahRowbi4+Px6tWrAi67gDZt2qBNmzY5tstkMkyZMgVTpkzJMcbGxgYbNmzIdTs1a9bMcb4ctc6dO6Nz5865J0zvJS4uDsCbGacnT54sjTq7c+cOvv76a/Tr108jjoiIKLN8FzZNmjRBSEgIatSogc6dO2PYsGE4evQoQkJC0Lx58w+RI5Ugtra2AIDp06fD29sbEydOhJubG6Kjo7F27VpMnz5dI46IiCizfF8E8/nz50hJSYGTkxNUKhWCgoJw6tQpVKpUCePGjcuxbwTxIpjaUM8ubGFhgT///BMGBv9fe2dkZKBjx45ITEzMMisxERHpNm1/Q/N9xMbGxkb6v56eHkaPHv1uGRJl4+rVq1AqlXjx4gXGjRuH+vXrQ6FQIDU1FWfOnJFmgr569Spq165dxNkSEVFxk+/CZt++fdDX14e/v7/G8kOHDkGpVKJVq1YFlhyVPOq+Mx07dsSOHTtw6tQpqU1fXx8dO3bEn3/+yT42RESUrXwXNqNHj8asWbOyLFepVBg9ejQLG3ov6r4zf/75Jxo0aIAyZcogNTUVCoUC//33nzQ5I/vYEBFRdvJd2Ny8eTPLbMDAm0nTbt26VSBJUcnl4eEBfX19GBkZ4e7duzh9+rTU5uDgAFNTU6SkpOR4LSkiIirZ8l3YWFpa4s6dOyhXrpzG8lu3bsHU1LSg8qISSt3H5uXLl5DL5ejatSucnJzw6NEjHDp0CC9fvpTi2MeGiIjelu/Cpl27dhg+fDi2b9+OChUqAHhT1Hz//fdo27ZtgSdIJcvTp08BvLlOWGxsLDZv3iy16enpwdHREY8fP5biiIiIMsv3JRWCgoJgamqKKlWqwM3NDW5ubqhatSpsbW0xZ86cD5EjlSDx8fEAgMePH6Nu3bpwdHSEubk5HB0dUbduXTx+/FgjjoiIKLN3OhV16tQphISE4NKlSzA2NkbNmjXRpEmTD5EflTDquQlkMhnOnj0rLU9KSsLjx48hk8kghOA8QERElK18FzbAmx+dFi1aoEWLFgWdD5VwiYmJAAD1vJHVqlVDv379sGrVKly7dk1aro4jIiLKTOtTUWFhYdizZ4/Gsj/++ANubm6ws7PDgAEDkJqaWuAJUsmSeTZhGxsbXLt2DSNGjMC1a9c0hnhz1mEiIsqO1oXNlClTcPXqVen+lStXEBgYCD8/P4wePRq7d+/GzJkzP0iSVHL89ddf0v8rV66MJk2aoE6dOmjSpAkqVaqUbRwREZGa1qeiLl68iKlTp0r3N23aBC8vL6xcuRIA4OLigokTJ2LSpEkFniSVHOrh3Obm5hpz2KiZmZkhOTlZiiMiIspM68LmxYsXsLe3l+6fOHFCY5bhTz75BA8ePCjY7KjEsbe3x9OnT5GUlAQDAwP4+vqiatWquH79Ok6cOIHk5GQpjoiI6G1an4qyt7dHdHQ0gDdXYD5//jwaNGggtSclJcHQ0LDgM6QSZfLkydL/ra2tceTIESxevBhHjhzRuABr5jgiIiI1rQubzz//HKNHj8bff/+NMWPGwMTEBD4+PlL75cuXpQn7iN7VsWPHpP8/ffoULi4u8PHxgYuLC548eZJtHBERkZrWp6KmTp2KDh06wNfXF2ZmZlizZo3GyJTff/+dw7/pvT169AgAYGVlhfj4eDx48EDjFKelpSUSEhKkOCIiosy0LmxKlSqF0NBQJCQkwMzMDPr6+hrtW7duhZmZWYEnSCWLk5MTgDczC9etWxfR0dF49eoVTExM4ObmhoiICI04IiKizGRCPeMZfXCJiYnSEQfOnJu9169fw9/fH3p6b86SqlQqqS3zsoMHD8LY2LhIciQiosKn7W9ovq8VRfQh3bhxA8Cb4kUIgRYtWuC3335DixYtIISQCh11HBERUWbvdEkFog8lNjYWAKBQKJCeno5Dhw7h0KFDAAB9fX0YGBggNTVViiMiIsqMR2yoWLl27RoAoFOnTtizZw8aNWqE8uXLo1GjRti9ezc6duyoEUdERJQZj9hQsXT48GFs2rQJSqUSAHDnzh188cUXKFWqVBFnRkRExRmP2FCxUqZMGQBvTknp6emhR48e2LBhA3r06AE9PT3pFJQ6joiIKDOOiipEHBWVt+TkZHz++ecA3kwx8OzZM6mtdOnSePr0KQBg3759nF6AiKgE4ago+ijt27dP+r9SqUStWrXg6emJWrVqISMjI9s4IiIiNfaxoWJFPaNwxYoVcevWLbx48UKjXb2cMw8TEVF2WNhQsaKeUfjWrVuwsLBA6dKlkZGRAQMDAzx9+hS3bt3SiCMiIsrsozoVNWvWLMhkMgwfPlxalpKSgsGDB8PW1hZmZmbo2LFjljlO7t+/j9atW8PExAR2dnYYOXKkxmkNADh+/Djq1KkDhUKBihUrIjg4OMv2lyxZgnLlysHIyAheXl44c+bMh3iaJZq6fw3wpr/N7du3ce/ePdy+fRvJycnZxhEREal9NIXN2bNn8euvv6JmzZoay7/77jvs3r0bW7duxYkTJ/Do0SN06NBBalcqlWjdujXS0tJw6tQprFmzBsHBwZgwYYIUEx0djdatW6NZs2a4ePEihg8fjn79+uHgwYNSzObNmzFixAhMnDgR58+fh6enJ/z9/TWuOE3vL3PfGSEE6tWrhwEDBqBevXrI3M+dfWyIiCg7H8WoqOTkZNSpUwdLly7FtGnTUKtWLSxYsAAJCQkoXbo0NmzYgE6dOgF4M9V+1apVERYWhgYNGmD//v1o06YNHj16BHt7ewDA8uXLMWrUKDx9+hRyuRyjRo3C3r17ERkZKW2zW7duiI+Px4EDBwAAXl5e+OSTT7B48WIAb6b8d3FxwbfffovRo0dr9Tw4Kipvc+fOxc6dO2FgYJDlqBoAaXm7du3w/fffF0GGRERUFHRqVNTgwYPRunVr+Pn5aSyPiIhAenq6xvIqVaqgbNmyCAsLAwCEhYWhRo0aUlEDAP7+/khMTMTVq1elmLfX7e/vL60jLS0NERERGjF6enrw8/OTYrKTmpqKxMREjRvlTj28OyMjAw0aNECTJk1Qp04dNGnSBA0aNJCKnczDwImIiNSKfefhTZs24fz58zh79myWtpiYGMjlclhZWWkst7e3R0xMjBSTuahRt6vbcotJTEzE69ev8eLFCyiVymxjcrsY48yZMzF58mTtnigBAGxtbQG8KRzv3r0rvUcA4ODgAD09PahUKimOiIgos2J9xObBgwcYNmwY1q9fDyMjo6JOJ9/GjBmDhIQE6fbgwYOiTqnY09N7s0uqVCrExcWhe/fuWL9+Pbp37464uDjp6t7qOCIiosyK9RGbiIgIPHnyBHXq1JGWKZVKhIaGYvHixTh48CDS0tIQHx+vcdQmNjYWDg4OAN78lf/26CX1qKnMMW+PpIqNjYWFhQWMjY2hr68PfX39bGPU68iOQqGAQqHI/xMvwapUqQLgTeGSkZGBDRs2YMOGDQAAmUwmHbFRxxEREWVWrP/sbd68Oa5cuYKLFy9Kt3r16qFHjx7S/w0NDXHkyBHpMVFRUbh//z68vb0BAN7e3rhy5YrG6KWQkBBYWFigWrVqUkzmdahj1OuQy+WoW7euRoxKpcKRI0ekGCoY6iHdKpUKlpaWGjMPW1paSkdsMg/9JiIiUivWR2zMzc1RvXp1jWWmpqawtbWVlgcGBmLEiBGwsbGBhYUFvv32W3h7e6NBgwYAgBYtWqBatWro2bMngoKCEBMTg3HjxmHw4MHS0ZRvvvkGixcvxo8//oivv/4aR48exZYtW7B3715puyNGjEDv3r1Rr1491K9fHwsWLMDLly/Rt2/fQno1Sgb1kTcrKyvEx8fj4sWLWdrfPkJHRESkVqwLG23Mnz8fenp66NixI1JTU+Hv74+lS5dK7fr6+tizZw8GDhwIb29vmJqaonfv3pgyZYoU4+bmhr179+K7777DwoULUaZMGaxatQr+/v5STNeuXfH06VNMmDABMTExqFWrFg4cOJClQzG9n9KlSwMA4uPjYWlpCSEEUlNToVAoIJPJEB8frxFHRESU2Ucxj42u4Dw2eUtLS4O/vz9UKhWy2zXV/WwOHjwIuVxeBBkSEVFR0Kl5bKjkuHr1KpRKpVTU2Nvbo1GjRtKRMSEElEqlNAcRERFRZh/9qSjSLZmHxOvp6SE2NlYajaavrw+lUinF1a5du0hyJCKi4ouFDRUr27Ztk/5fv359lClTRupj899//+H06dNSXNu2bYsqTSIiKqZY2FCxoh7GbWRkhLt370qFDPBmviEjIyOkpKRwuDcREWWLhQ0VK2ZmZnj27BlSUlKQkpICT09Pqe3evXtISUmR4oiIiN7GwoaKlQ4dOmDevHkA3gz5Vg/vzi6OiIjobRwVRcVKWlqaxn1zc3PUrVsX5ubmucYREREBPGJDxYyJiYnG/aSkJEREROQZR0REBPCIDRUzJ0+elP5vamoqXcVbT08Ppqam2cYRERGp8YgNFSvqzsEA8PLlS+n/KpVK437mOCIiIjUesaFixcjISOO+XC6HpaVllssnvB1HREQEsLChYubt2YTT0tKQkJCQpbMwZx0mIqLssLChYmXr1q0a983NzVGxYsUso6LejiMiIgLYx4aKmVevXmncT0pKQlJSUp5xREREAAsbKmbS09Ol/+vr68PBwQEymQxCCMTExEgXwcwcR0REpMbChooVW1tbPHz4EACgVCql/2cXR0RE9Db2saFixdDQUOO+qakp3NzcNOawyS6OiIgIYGFDxYyHh4fG/ZcvXyI6OlpjDpvs4oiIiAAWNlTMaHskhkdsiIgoOyxsqFipXLlygcYREVHJwsKGipV///23QOOIiKhkYWFDxYq289NwHhsiIsoOCxsqVg4fPqxx39LSEtbW1rC0tMw1joiICOA8NlTMqFQqjfsJCQlaxREREQEsbKiYUc8yrGZiYgK5XI60tDSN008ymawo0iMiomKOp6KoWClbtqzG/VevXiE+Pj5Ln5q344iIiAAWNlTMaHskhkdsiIgoOyxsqFh5u5Pw+8YREVHJwsKGipWYmJgCjSMiopKlWBc2M2fOxCeffAJzc3PY2dmhffv2iIqK0ohJSUnB4MGDYWtrCzMzM3Ts2BGxsbEaMffv30fr1q1hYmICOzs7jBw5EhkZGRoxx48fR506daBQKFCxYkUEBwdnyWfJkiUoV64cjIyM4OXlhTNnzhT4cy7pDAy068+ubRwREZUsxbqwOXHiBAYPHozTp08jJCQE6enpaNGihcYFEb/77jvs3r0bW7duxYkTJ/Do0SN06NBBalcqlWjdujXS0tJw6tQprFmzBsHBwZgwYYIUEx0djdatW6NZs2a4ePEihg8fjn79+uHgwYNSzObNmzFixAhMnDgR58+fh6enJ/z9/fHkyZPCeTFKiIcPHxZoHBERlSwykXlsbTH39OlT2NnZ4cSJE2jSpAkSEhJQunRpbNiwAZ06dQIA3LhxA1WrVkVYWBgaNGiA/fv3o02bNnj06BHs7e0BAMuXL8eoUaPw9OlTyOVyjBo1Cnv37kVkZKS0rW7duiE+Ph4HDhwAAHh5eeGTTz7B4sWLAbyZR8XFxQXffvstRo8erVX+iYmJsLS0REJCAiwsLArypdEZTZo00To2NDT0A2ZCRETFiba/ocX6iM3b1JO12djYAAAiIiKQnp4OPz8/KaZKlSooW7YswsLCAABhYWGoUaOGVNQAgL+/PxITE3H16lUpJvM61DHqdaSlpSEiIkIjRk9PD35+flJMdlJTU5GYmKhxIyIiog/noylsVCoVhg8fjkaNGqF69eoA3nQglcvlsLKy0oi1t7eXOpfGxMRoFDXqdnVbbjGJiYl4/fo1nj17BqVSmW1Mbp1YZ86cCUtLS+nm4uKS/ydOREREWvtoCpvBgwcjMjISmzZtKupUtDZmzBgkJCRItwcPHhR1SkRERDrtoxhaMmTIEOzZswehoaEoU6aMtNzBwQFpaWmIj4/XOGoTGxsLBwcHKebt0UvqUVOZY94eSRUbGwsLCwsYGxtDX18f+vr62cao15EdhUIBhUKR/ydMRERE76RYH7ERQmDIkCHYvn07jh49Cjc3N432unXrwtDQEEeOHJGWRUVF4f79+/D29gYAeHt748qVKxqjl0JCQmBhYYFq1apJMZnXoY5Rr0Mul6Nu3boaMSqVCkeOHJFiqGBw5mEiInofxfqIzeDBg7Fhwwbs3LkT5ubmUn8WS0tLGBsbw9LSEoGBgRgxYgRsbGxgYWGBb7/9Ft7e3mjQoAEAoEWLFqhWrRp69uyJoKAgxMTEYNy4cRg8eLB0NOWbb77B4sWL8eOPP+Lrr7/G0aNHsWXLFuzdu1fKZcSIEejduzfq1auH+vXrY8GCBXj58iX69u1b+C+MDrO0tER8fLxWcURERG8r1oXNsmXLAABNmzbVWL569Wr06dMHADB//nzo6emhY8eOSE1Nhb+/P5YuXSrF6uvrY8+ePRg4cCC8vb1hamqK3r17Y8qUKVKMm5sb9u7di++++w4LFy5EmTJlsGrVKvj7+0sxXbt2xdOnTzFhwgTExMSgVq1aOHDgQJYOxfR+0tPTCzSOiIhKlo9qHpuPHeexyduXX36JuLi4PONsbW2xffv2QsiIiIiKA52cx4Z0nzZFTX7iiIioZGFhQ0RERDqDhQ0RERHpDBY2VKxoO+8P5wciIqLssLChYsXQ0LBA44iIqGRhYUPFilKpLNA4IiIqWVjYULHy+vXrAo0jIqKShYUNERER6QwWNkRERKQzWNgQERGRzmBhQ0RERDqDhQ0RERHpjGJ9dW8qHlJSUnDv3r2iTiOLqKioQtmOq6srjIyMCmVbRET0fljYUJ7u3buH/v37F3UaWRRWTitXroS7u3uhbIuIiN4PCxvKk6urK1auXFko28pPsVJYObm6uhbKdoiI6P2xsKE8GRkZFdoRizlz5uCHH37QKo5HUYiI6G3sPEzFSv369Qs0joiIShYWNlTshIaGvlc7ERGVXCxsqFgKDQ3FnDlzNJbNmTOHRQ0REeWKhQ0VW/Xr15c6CK9cuZKnn4iIKE8sbIiIiEhnsLAhIiIincHChoiIiHQG57H5iMTGxiI+Pr6o0yhU6ks5FMdLOnxoVlZWsLe3L+o0iIg+KjIhhCjqJEqKxMREWFpaIiEhARYWFvl6bGxsLHr0+AppaakfKDsqbuRyBdavX8fihogI2v+G8ojNRyI+Ph5paalIqdAUwtiqqNOhD0z2Oh64fRzx8fEsbIiI8oGFzUdGGFtBZVqqqNOgD4yd34iI3g2/P4mIiEhn8IjNR0b2Op7VaAkgex1f1CmUKGPHjsXff/8t3ffx8cH06dOLMCPSVXfu3MHXX38NlUoFPT09/P777yhfvnxRp6VTWNjk05IlSzB79mzExMTA09MTv/zyS6HOiGt0+3ihbYuoJGjSpEmWZX///TeaNGnCS3hQgXp7X1OpVOjTpw8AXgOvILGwyYfNmzdjxIgRWL58Oby8vLBgwQL4+/sjKioKdnZ2hZJDapm6EArzQtkWFR1ZahIU/0UUdRo6L7ui5u12/uBQQci8rxkaGqJnz55Yu3Yt0tPTpXbuawWDhU0+zJs3D/3790ffvn0BAMuXL8fevXvx+++/Y/To0R9021ZWVpDLFQB/7EoMuVwBKyurok5DZ40dO1b6f5cuXTBkyBDp/uLFi7FlyxYpjqel6H3cuXNH+v+mTZvg5OQEAOjTpw8ePXqEbt26SXE8LfX+WNhoKS0tDRERERgzZoy0TE9PD35+fggLC8v2MampqUhN/f95ZxITE995+/b29li/fl2RTNCXmpqKmJiYQt8uADx+/Bi//fYbAgMD4ejoWCQ5ODg4QKFQFPp2i3KCvn///Rd3794t9O2+evUKt2/fLpRtZe5Tk5qairlz5+YYl1NbQatQoQJMTEwKZVuZlStXDpUrVy707QIlY1/buXMnAEAmk2Hjxo1Z2mUyGYQQ6NOnD9q1a1coOenyvsYJ+rT06NEjODs749SpU/D29paW//jjjzhx4gTCw8OzPGbSpEmYPHlyluXvMkFfUYqKikL//v2LOo0is3LlSri7uxd1GoXq22+/xaVLl4o6DSok6v6CRYH7WsnyPvsaJ+grBsaMGYMRI0ZI9xMTE+Hi4lKEGb0bV1dXrFy5sqjTKDKurq5FnUKh+/bbb0vMX9EAsv0rOa/2D6Eo/4ouKiVpX5PJZGjbtm2W9l27dkF9jIH72vtjYaOlUqVKQV9fH7GxsRrLY2Nj4eDgkO1jFApFkZzCKGhGRkYl7ohFSVe5cuUiOzVRWJ4/fy6djlIoFFn62Kj5+Pjg+++/L/T8SoqSsK99+eWX6NOnD4QQCAgIkPrYAG/OBqgLn+DgYPaxKQA8FZUPXl5eqF+/vnQYTaVSoWzZshgyZIhWnYff51pRRFTw8hoVBXAYLhWMt0dFdevWDZs2bZJGRQHc1/Ki7W8o53rLhxEjRmDlypVYs2YNrl+/joEDB+Lly5fSKCki+rjk9UPCHxoqKJn3pfT0dI2h3m+30/thYZMPXbt2xZw5czBhwgTUqlULFy9exIEDB3iRQqKPWGhoKHx8fDSW+fj48IeGClxoaCiCg4Ohp/fmp1dPTw/BwcHc1woYT0UVIp6KIiIiejc8FUVEREQlDgsbIiIi0hksbIiIiEhnsLAhIiIincHChoiIiHQGCxsiIiLSGbykQiFSj6x/n6t8ExERlUTq3868ZqlhYVOIkpKSAOCjvBAmERFRcZCUlARLS8sc2zlBXyFSqVR49OgRzM3NIZPJijqdj4L6iugPHjzgpIb0QXFfo8LCfe3dCCGQlJQEJycnafbm7PCITSHS09NDmTJlijqNj5KFhQW/AKhQcF+jwsJ9Lf9yO1Kjxs7DREREpDNY2BAREZHOYGFDxZpCocDEiROhUCiKOhXScdzXqLBwX/uw2HmYiIiIdAaP2BAREZHOYGFDREREOoOFDREREekMFjZUYO7evQuZTIaLFy8WdSpE76RcuXJYsGBBUadBRO+BnYepwCiVSjx9+hSlSpWCgQHnfqTiKzg4GMOHD0d8fLzG8qdPn8LU1BQmJiZFkxgRvTf++lCBSEtLg1wuh4ODQ1GnQiWcel98F6VLly7gbIiKjhACSqWyxP2hyVNRlK2mTZtiyJAhGDJkCCwtLVGqVCmMHz9euqpquXLlMHXqVPTq1QsWFhYYMGBAtqeirl69ijZt2sDCwgLm5ubw8fHB7du3pfZVq1ahatWqMDIyQpUqVbB06VKt8lNv66+//kKzZs1gYmICT09PhIWFSTGTJk1CrVq1NB63YMEClCtXTrrfp08ftG/fHjNmzIC9vT2srKwwZcoUZGRkYOTIkbCxsUGZMmWwevXq/L+IVCjU++rw4cNRqlQp+Pv7Y968eahRowZMTU3h4uKCQYMGITk5GQBw/Phx9O3bFwkJCZDJZJDJZJg0aRKArKeiZDIZVq1ahS+//BImJiaoVKkSdu3apbH9Xbt2oVKlSjAyMkKzZs2wZs0ayGSyLEeDqHjI67vtxYsX6NWrF6ytrWFiYoJWrVrh5s2b0uODg4NhZWWFHTt2SO+7v78/Hjx4oNX2L126hGbNmsHc3BwWFhaoW7cuzp07J7WfPHkSTZs2hYmJCaytreHv748XL14AAFJTUzF06FDY2dnByMgIjRs3xtmzZ6XHHj9+HDKZDPv370fdunWhUCjwzz//QKVSYebMmXBzc4OxsTE8PT2xbdu2gng5iydBlA1fX19hZmYmhg0bJm7cuCHWrVsnTExMxIoVK4QQQri6ugoLCwsxZ84ccevWLXHr1i0RHR0tAIgLFy4IIYT477//hI2NjejQoYM4e/asiIqKEr///ru4ceOGEEKIdevWCUdHR/Hnn3+KO3fuiD///FPY2NiI4ODgPPNTb6tKlSpiz549IioqSnTq1Em4urqK9PR0IYQQEydOFJ6enhqPmz9/vnB1dZXu9+7dW5ibm4vBgweLGzduiN9++00AEP7+/mL69Oni33//FVOnThWGhobiwYMH7//CUoFT76sjR44UN27cEDdu3BDz588XR48eFdHR0eLIkSPC3d1dDBw4UAghRGpqqliwYIGwsLAQjx8/Fo8fPxZJSUlCiDf79fz586V1AxBlypQRGzZsEDdv3hRDhw4VZmZmIi4uTgghxJ07d4ShoaH44YcfxI0bN8TGjRuFs7OzACBevHhR2C8FaSGv77a2bduKqlWritDQUHHx4kXh7+8vKlasKNLS0oQQQqxevVoYGhqKevXqiVOnTolz586J+vXri4YNG2q1fQ8PD/HVV1+J69evi3///Vds2bJFXLx4UQghxIULF4RCoRADBw4UFy9eFJGRkeKXX34RT58+FUIIMXToUOHk5CT27dsnrl69Knr37i2sra2l/fHYsWMCgKhZs6Y4dOiQuHXrloiLixPTpk0TVapUEQcOHBC3b98Wq1evFgqFQhw/frygX95igYUNZcvX11dUrVpVqFQqadmoUaNE1apVhRBvfgDat2+v8Zi3C5sxY8YINzc36QvhbRUqVBAbNmzQWDZ16lTh7e2dZ37qba1atUpadvXqVQFAXL9+XQihfWHj6uoqlEqltMzd3V34+PhI9zMyMoSpqanYuHFjnnlR4fP19RW1a9fONWbr1q3C1tZWur969WphaWmZJS67wmbcuHHS/eTkZAFA7N+/Xwjx5jNRvXp1jXWMHTuWhU0xltt327///isAiJMnT0ptz549E8bGxmLLli1CiDf7DgBx+vRpKeb69esCgAgPD89z++bm5jn+8RYQECAaNWqUbVtycrIwNDQU69evl5alpaUJJycnERQUJIT4/8Jmx44dUkxKSoowMTERp06d0lhfYGCgCAgIyDPfjxFPRVGOGjRoAJlMJt339vbGzZs3oVQqAQD16tXL9fEXL16Ej48PDA0Ns7S9fPkSt2/fRmBgIMzMzKTbtGnTNE5V5aVmzZrS/x0dHQEAT5480frxAODh4QE9vf//KNjb26NGjRrSfX19fdja2uZ7vVR46tatq3H/8OHDaN68OZydnWFubo6ePXsiLi4Or169yve6M+9jpqamsLCwkPaFqKgofPLJJxrx9evXf4dnQIUpp++2a9euwcDAAF5eXlKbra0t3N3dcf36dWmZgYGBxvtepUoVWFlZacTkZMSIEejXrx/8/Pwwa9Ysje+7ixcvonnz5tk+7vbt20hPT0ejRo2kZYaGhqhfv36W7Wb+br516xZevXqFzz77TOO79o8//sjXd+3HpGT1KKICZWpqmmu7sbFxjm3q/g4rV67U+BIB3hQS2spcNKm/qFQqFQBAT09POm+ulp6enus61OvJbpl6vVT8ZN4X7969izZt2mDgwIGYPn06bGxs8M8//yAwMBBpaWn5HvHEfYEK0qRJk9C9e3fs3bsX+/fvx8SJE7Fp0yZ8+eWXuX5n5kfmz4P6u3bv3r1wdnbWiNPVa1XxiA3lKDw8XOP+6dOnUalSJa0Lj5o1a+Lvv//Otpiwt7eHk5MT7ty5g4oVK2rc3NzcCiT/0qVLIyYmRqO44Rw7ui8iIgIqlQpz585FgwYNULlyZTx69EgjRi6XS0ce34e7u7tGx08AGp05qXjK6butWrVqyMjI0GiPi4tDVFQUqlWrJi3LyMjQeN+joqIQHx+PqlWrarX9ypUr47vvvsOhQ4fQoUMHaXBCzZo1ceTIkWwfU6FCBcjlcpw8eVJalp6ejrNnz2rk9rZq1apBoVDg/v37Wb5rXVxctMr3Y8PChnJ0//59jBgxAlFRUdi4cSN++eUXDBs2TOvHDxkyBImJiejWrRvOnTuHmzdvYu3atYiKigIATJ48GTNnzsSiRYvw77//4sqVK1i9ejXmzZtXIPk3bdoUT58+RVBQEG7fvo0lS5Zg//79BbJuKr4qVqyI9PR0/PLLL7hz5w7Wrl2L5cuXa8SUK1cOycnJOHLkCJ49e/ZOp6gA4H//+x9u3LiBUaNG4d9//8WWLVsQHBwMABqnOqh4yem7rVKlSmjXrh369++Pf/75B5cuXcJXX30FZ2dntGvXTnq8oaEhvv32W4SHhyMiIgJ9+vRBgwYN8jwN+fr1awwZMgTHjx/HvXv3cPLkSZw9e1YqiMaMGYOzZ89i0KBBuHz5Mm7cuIFly5bh2bNnMDU1xcCBAzFy5EgcOHAA165dQ//+/fHq1SsEBgbmuE1zc3P88MMP+O6777BmzRrcvn0b58+fxy+//II1a9YUzAtazLCwoRz16tULr1+/Rv369TF48GAMGzYMAwYM0Prxtra2OHr0KJKTk+Hr64u6deti5cqV0qH9fv36YdWqVVi9ejVq1KgBX19fBAcHF9gRm6pVq2Lp0qVYsmQJPD09cebMGfzwww8Fsm4qvjw9PTFv3jz8/PPPqF69OtavX4+ZM2dqxDRs2BDffPMNunbtitKlSyMoKOidtuXm5oZt27bhr7/+Qs2aNbFs2TKMHTsWgO4e5tcFuX23rV69GnXr1kWbNm3g7e0NIQT27duncUrSxMQEo0aNQvfu3dGoUSOYmZlh8+bNeW5XX18fcXFx6NWrFypXrowuXbqgVatWmDx5MoA3R3IOHTqES5cuoX79+vD29sbOnTuleWhmzZqFjh07omfPnqhTpw5u3bqFgwcPwtraOtftTp06FePHj8fMmTNRtWpVtGzZEnv37i2w79rihjMPU7aaNm2KWrVqcXp5onyaPn06li9frvW8JlS43ve7LadZq6n4YOdhIqL3sHTpUnzyySewtbXFyZMnMXv2bAwZMqSo0yIqsXgqioqlGTNmaAxNzHxr1apVUadHJLl58ybatWuHatWqYerUqfj++++lmYyp5PHw8Mjxu2v9+vVFnV6JwFNRVCw9f/4cz58/z7bN2Ng4y7BFIqLi4N69e9mOBAXejAY1Nzcv5IxKHhY2REREpDN4KoqIiIh0BgsbIiIi0hksbIiIiEhnsLAhIiIincHChoiIiHQGCxsiKrb69OkDmUyW5Xbr1q33XndwcDCsrKzeP0kiKlY48zARFWstW7aUrn6sVrp06SLKJnvp6eka1xIioqLDIzZEVKwpFAo4ODho3PT19bFz507UqVMHRkZGKF++PCZPnoyMjAzpcfPmzUONGjVgamoKFxcXDBo0CMnJyQCA48ePo2/fvkhISJCOAqlnC5bJZNixY4dGDlZWVtJVu+/evQuZTIbNmzfD19cXRkZG0oyyq1atQtWqVWFkZIQqVapg6dKl0jrS0tIwZMgQODo6wsjICK6urlkuzklE749HbIjoo/P333+jV69eWLRoEXx8fHD79m3p6swTJ04EAOjp6WHRokVwc3PDnTt3MGjQIPz4449YunQpGjZsiAULFmDChAmIiooCAJiZmeUrh9GjR2Pu3LmoXbu2VNxMmDABixcvRu3atXHhwgX0798fpqam6N27NxYtWoRdu3Zhy5YtKFu2LB48eMALZRJ9ACxsiKhY27Nnj0bR0apVK7x48QKjR49G7969AQDly5fH1KlT8eOPP0qFzfDhw6XHlCtXDtOmTcM333yDpUuXQi6Xw9LSEjKZDA4ODu+U1/Dhw9GhQwfp/sSJEzF37lxpmZubG65du4Zff/0VvXv3xv3791GpUiU0btwYMpkMrq6u77RdIsodCxsiKtaaNWuGZcuWSfdNTU1Rs2ZNnDx5EtOnT5eWK5VKpKSk4NWrVzAxMcHhw4cxc+ZM3LhxA4mJicjIyNBof1/16tWT/v/y5Uvcvn0bgYGB6N+/v7Q8IyMDlpaWAN50hP7ss8/g7u6Oli1bok2bNmjRosV750FEmljYEFGxZmpqiooVK2osS05OxuTJkzWOmKgZGRnh7t27aNOmDQYOHIjp06fDxsYG//zzDwIDA5GWlpZrYSOTyfD2JfSyu6ihqampRj4AsHLlSnh5eWnE6evrAwDq1KmD6Oho7N+/H4cPH0aXLl3g5+eHbdu25fEKEFF+sLAhoo9OnTp1EBUVlaXgUYuIiIBKpcLcuXOhp/dmjMSWLVs0YuRyOZRKZZbHli5dGo8fP5bu37x5E69evco1H3t7ezg5OeHOnTvo0aNHjnEWFhbo2rUrunbtik6dOqFly5Z4/vw5bGxscl0/EWmPhQ0RfXQmTJiANm3aoGzZsujUqRP09PRw6dIlREZGYtq0aahYsSLS09Pxyy+/4IsvvsDJkyexfPlyjXWUK1cOycnJOHLkCDw9PWFiYgITExN8+umnWLx4Mby9vaFUKjFq1CithnJPnjwZQ4cOhaWlJVq2bInU1FScO3cOL168wIgRIzBv3jw4Ojqidu3a0NPTw9atW+Hg4MC5dIgKGId7E9FHx9/fH3v27MGhQ4fwySefoEGDBpg/f77UIdfT0xPz5s3Dzz//jOrVq2P9+vVZhlY3bNgQ33zzDbp27YrSpUsjKCgIADB37ly4uLjAx8cH3bt3xw8//KBVn5x+/fph1apVWL16NWrUqAFfX18EBwfDzc0NAGBubo6goCDUq1cPn3zyCe7evYt9+/ZJR5SIqGDIxNsnk4mIiIg+UvxTgYiIiHQGCxsiIiLSGSxsiIiISGewsCEiIiKdwcKGiIiIdAYLGyIiItIZLGyIiIhIZ7CwISIiIp3BwoaIiIh0BgsbIiIi0hksbIiIiEhn/B9zVDaSOp4R+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data:image/png;base64,iVBORw0KGgoAAAANSUhEUgAAAjYAAAGJCAYAAACZwnkIAAAAOnRFWHRTb2Z0d2FyZQBNYXRwbG90bGliIHZlcnNpb24zLjEwLjAsIGh0dHBzOi8vbWF0cGxvdGxpYi5vcmcvlHJYcgAAAAlwSFlzAAAPYQAAD2EBqD+naQAAalZJREFUeJzt3Xl4TNf/B/D3ZJnJvpJVRGxBEFtFEKFSoRS1h9oafGspqlXUvmvsaitaUfvS2tdY0xJBrLGklliKBCEbss2c3x+eub+MbBMiicn79TzzMPd85t7PzNyZ+eTec86VCSEEiIiIiHSAXlEnQERERFRQWNgQERGRzmBhQ0RERDqDhQ0RERHpDBY2REREpDNY2BAREZHOYGFDREREOoOFDREREekMFjZERESkM1jYUL5MmjQJMpmsULbVtGlTNG3aVLp//PhxyGQybNu2rVC236dPH5QrV65QtvWukpOT0a9fPzg4OEAmk2H48OFFnZKGu3fvQiaTITg4uMDWGRwcDJlMhrt37xbYOj9GH+K1pfwLCgpClSpVoFKpijqVAtOgQQP8+OOPRZ3GO2NhU4KpfyDUNyMjIzg5OcHf3x+LFi1CUlJSgWzn0aNHmDRpEi5evFgg6ytIxTk3bcyYMQPBwcEYOHAg1q5di549e+YYm5aWhoULF6J27dqwsLCAlZUVPDw8MGDAANy4caMQsy4c6iLc3t4er169ytJerlw5tGnTpggyK37URVJ2twYNGnyQbX7snz0ASExMxM8//4xRo0ZBT0/z53TXrl2oU6cOjIyMULZsWUycOBEZGRl5rvPatWuYNGlSgRfuycnJmDhxIlq2bAkbG5tci+JRo0ZhyZIliImJKdAcCotBUSdARW/KlClwc3NDeno6YmJicPz4cQwfPhzz5s3Drl27ULNmTSl23LhxGD16dL7W/+jRI0yePBnlypVDrVq1tH7coUOH8rWdd5FbbitXriz2f4UdPXoUDRo0wMSJE/OM7dixI/bv34+AgAD0798f6enpuHHjBvbs2YOGDRuiSpUqhZBx4Xvy5AmWLVuG77//vqhTKVCurq54/fo1DA0NC2ydAQEB+PzzzzWWlS5dusDWn9m7fi8UJ7///jsyMjIQEBCgsXz//v1o3749mjZtil9++QVXrlzBtGnTpH0xN9euXcPkyZPRtGnTAj1i/OzZM0yZMgVly5aFp6cnjh8/nmNsu3btYGFhgaVLl2LKlCkFlkNhYWFDaNWqFerVqyfdHzNmDI4ePYo2bdqgbdu2uH79OoyNjQEABgYGMDD4sLvNq1evYGJiArlc/kG3k5eC/MH4UJ48eYJq1arlGXf27Fns2bMH06dPx08//aTRtnjxYsTHx3+gDIterVq1MHv2bAwaNEjajz9mGRkZUKlUkMvlMDIyKtB116lTB1999VWBrrOwpaSkQC6XZzmC8iGsXr0abdu2zfI+/PDDD6hZsyYOHTokfV9aWFhgxowZGDZsWJH8EeHo6IjHjx/DwcEB586dwyeffJJjrJ6eHjp16oQ//vgDkydPLrTuBwWFp6IoW59++inGjx+Pe/fuYd26ddLy7PrYhISEoHHjxrCysoKZmRnc3d2lH8/jx49LH6C+fftKh7fVh0CbNm2K6tWrIyIiAk2aNIGJiYn02Lf72KgplUr89NNPcHBwgKmpKdq2bYsHDx5oxJQrVw59+vTJ8tjM68wrt+z62Lx8+RLff/89XFxcoFAo4O7ujjlz5kAIoREnk8kwZMgQ7NixA9WrV4dCoYCHhwcOHDiQ/Qv+lidPniAwMBD29vYwMjKCp6cn1qxZI7Wr+xtFR0dj7969Uu45Hb6+ffs2AKBRo0ZZ2vT19WFra6ux7OHDhwgMDISTkxMUCgXc3NwwcOBApKWlAQCeP3+OH374ATVq1ICZmRksLCzQqlUrXLp0Savnd+PGDXTq1Ak2NjYwMjJCvXr1sGvXrixxV69exaeffgpjY2OUKVMG06ZNy/dRtAkTJiA2NjbPv5TVr+nbf8lm15elT58+MDMzw/3799GmTRuYmZnB2dkZS5YsAQBcuXIFn376KUxNTeHq6ooNGzZk2V58fDyGDx8u7UsVK1bEzz//rPH81NueM2cOFixYgAoVKkChUODatWs59rG5ceMGunTpgtKlS8PY2Bju7u4YO3Zsvl6znGjzvmmzb+T12dPm86tej0wmw6ZNmzBu3Dg4OzvDxMQEiYmJAIDw8HC0bNkSlpaWMDExga+vL06ePKmxzqSkJAwfPhzlypWDQqGAnZ0dPvvsM5w/fz7X1yI6OhqXL1+Gn5+fxvJr167h2rVrGDBggMYfgYMGDYIQItc+gsHBwejcuTMAoFmzZtLrknmfXLp0KTw8PKBQKODk5ITBgwdr9YeJQqGAg4NDnnFqn332Ge7du/dRnirkERvKUc+ePfHTTz/h0KFD6N+/f7YxV69eRZs2bVCzZk1MmTIFCoUCt27dkr48qlatiilTpmDChAkYMGAAfHx8AAANGzaU1hEXF4dWrVqhW7du+Oqrr2Bvb59rXtOnT4dMJsOoUaPw5MkTLFiwAH5+frh48WK+/iLXJrfMhBBo27Ytjh07hsDAQNSqVQsHDx7EyJEj8fDhQ8yfP18j/p9//sFff/2FQYMGwdzcHIsWLULHjh1x//79LIVEZq9fv0bTpk1x69YtDBkyBG5ubti6dSv69OmD+Ph4DBs2DFWrVsXatWvx3XffoUyZMtJplpxOG7i6ugIA1q9fj0aNGuV61O3Ro0eoX78+4uPjMWDAAFSpUgUPHz7Etm3b8OrVK8jlcty5cwc7duxA586d4ebmhtjYWPz666/w9fXFtWvX4OTklOP6r169ikaNGsHZ2RmjR4+GqakptmzZgvbt2+PPP//El19+CQCIiYlBs2bNkJGRIcWtWLEi30ddfHx88OmnnyIoKAgDBw4ssKM2SqUSrVq1QpMmTRAUFIT169djyJAhMDU1xdixY9GjRw906NABy5cvR69eveDt7Q03NzcAb45K+vr64uHDh/jf//6HsmXL4tSpUxgzZgweP36MBQsWaGxr9erVSElJwYABA6BQKGBjY5NtgXf58mX4+PjA0NAQAwYMQLly5XD79m3s3r0b06dPz/M5vXr1Cs+ePdNYZmlpCUNDQ63fN232jfx+9vIydepUyOVy/PDDD0hNTYVcLsfRo0fRqlUr1K1bFxMnToSenh5Wr16NTz/9FH///Tfq168PAPjmm2+wbds2DBkyBNWqVUNcXBz++ecfXL9+HXXq1Mlxm6dOnQKALDEXLlwAAI2j4ADg5OSEMmXKSO3ZadKkCYYOHYpFixbhp59+QtWqVQFA+nfSpEmYPHky/Pz8MHDgQERFRWHZsmU4e/YsTp48WaBHmevWrQsAOHnyJGrXrl1g6y0Ugkqs1atXCwDi7NmzOcZYWlqK2rVrS/cnTpwoMu828+fPFwDE06dPc1zH2bNnBQCxevXqLG2+vr4CgFi+fHm2bb6+vtL9Y8eOCQDC2dlZJCYmSsu3bNkiAIiFCxdKy1xdXUXv3r3zXGduufXu3Vu4urpK93fs2CEAiGnTpmnEderUSchkMnHr1i1pGQAhl8s1ll26dEkAEL/88kuWbWW2YMECAUCsW7dOWpaWlia8vb2FmZmZxnN3dXUVrVu3znV9QgihUqmk19re3l4EBASIJUuWiHv37mWJ7dWrl9DT08t2v1CpVEIIIVJSUoRSqdRoi46OFgqFQkyZMkVj2duvb/PmzUWNGjVESkqKxnobNmwoKlWqJC0bPny4ACDCw8OlZU+ePBGWlpYCgIiOjs71Oav31adPn4oTJ04IAGLevHlS+9uvnXr/OnbsWJbn9fZz6N27twAgZsyYIS178eKFMDY2FjKZTGzatElafuPGDQFATJw4UVo2depUYWpqKv7991+NbY0ePVro6+uL+/fva2zbwsJCPHnyJM+8mjRpIszNzbO8r+r3LSfqdWV3U78e2r5v2u4buX32tP38qt+z8uXLi1evXmnkValSJeHv76/x3F+9eiXc3NzEZ599Ji2ztLQUgwcPzvX1yc64ceMEAJGUlKSxfPbs2QKA9B5m9sknn4gGDRrkut6tW7dmux8+efJEyOVy0aJFC43Xd/HixQKA+P3337XOPbfXPjO5XC4GDhyo9XqLC56KolyZmZnlOjrKysoKALBz58537mirUCjQt29freN79eoFc3Nz6X6nTp3g6OiIffv2vdP2tbVv3z7o6+tj6NChGsu///57CCGwf/9+jeV+fn6oUKGCdL9mzZqwsLDAnTt38tyOg4ODRodEQ0NDDB06FMnJyThx4kS+c5fJZDh48CCmTZsGa2trbNy4EYMHD4arqyu6du0qHcpWqVTYsWMHvvjiiyx/carXA7x5z9R9GJRKJeLi4qTTkLkdwn/+/DmOHj2KLl26ICkpCc+ePcOzZ88QFxcHf39/3Lx5Ew8fPpRehwYNGkh/WQNvjkj16NEj38+/SZMmaNasGYKCgvD69et8Pz4n/fr1k/5vZWUFd3d3mJqaokuXLtJyd3d3WFlZabzvW7duhY+PD6ytraXX4NmzZ/Dz84NSqURoaKjGdjp27JhnJ96nT58iNDQUX3/9NcqWLavRpm0fiQEDBiAkJETj5unpma/37V33jffRu3dvjSNxFy9exM2bN9G9e3fExcVJ+b58+RLNmzdHaGio9H1lZWWF8PBwPHr0KF/bjIuLg4GBAczMzDSWq/cvhUKR5TFGRkbvvP8dPnwYaWlpGD58uEb/of79+8PCwgJ79+59p/XmRr1/fmx4KopylZycDDs7uxzbu3btilWrVqFfv34YPXo0mjdvjg4dOqBTp05ad95zdnbOV0fhSpUqadyXyWSoWLHiB5/X5N69e3ByctIoqoD/P0x87949jeVv/7gAb74oXrx4ked2KlWqlOX1y2k72lIoFBg7dizGjh2Lx48f48SJE1i4cCG2bNkCQ0NDrFu3Dk+fPkViYiKqV6+e67pUKhUWLlyIpUuXIjo6GkqlUmrL7TTbrVu3IITA+PHjMX78+Gxjnjx5AmdnZ9y7dw9eXl5Z2t3d3bV8xpomTZoEX19fLF++HN999907rSMzIyOjLMWGpaUlypQpk6WQsLS01Hjfb968icuXL+dYrDx58kTjvvoUVm7UhVNe711uKlWqlKXPCACcOXNG6/ftXfeN9/H263Pz5k0AbwqenCQkJMDa2hpBQUHo3bs3XFxcULduXXz++efo1asXypcv/065qAus1NTULG0pKSnvfCpU/bl/e/+Xy+UoX778O38v5EYI8dF1HAZY2FAu/vvvPyQkJKBixYo5xhgbGyM0NBTHjh3D3r17ceDAAWzevBmffvopDh06BH19/Ty38yFGquT0YVQqlVrlVBBy2o54q6NxUXB0dES3bt3QsWNHeHh4YMuWLfma6G3GjBkYP348vv76a0ydOhU2NjbQ09PD8OHDcz1yp2774Ycf4O/vn21Mbvvb+2jSpAmaNm2KoKAgfPPNN1nac9tnspPT+6vN+65SqfDZZ5/lOAla5cqVNe4X9Wiu/Lxv77pvZJbfz+/br496O7Nnz85xKLn6SEuXLl3g4+OD7du349ChQ5g9ezZ+/vln/PXXX2jVqlWOOdra2iIjIwNJSUkaf+w4OjoCAB4/fgwXFxeNxzx+/FjjCGRxFx8fj1KlShV1GvnGwoZytHbtWgDI8YtMTU9PD82bN0fz5s0xb948zJgxA2PHjsWxY8fg5+dX4BW/+q8xNSEEbt26pTHfjrW1dbYjBe7du6fxl1h+cnN1dcXhw4ezfJGpJ7dTd9B9X66urrh8+TJUKpXGUZuC3g7w5hRXzZo1cfPmTTx79gx2dnawsLBAZGRkro/btm0bmjVrht9++01jeV5fhOrX3tDQMNsjA5m5urpmea8BICoqKtfH5WbSpElo2rQpfv311yxt1tbWAJBlv/kQfwlXqFABycnJeb4G+aF+bfN6795n3dq8b9ruG7l99rT9/OZEfQrYwsJCq9fY0dERgwYNwqBBg/DkyRPUqVMH06dPz7WwUQ/Zjo6O1vjuURdS586d0yhiHj16hP/++w8DBgzINZecXhf15z4qKkrjNUhLS0N0dHSB7kvAm5GRaWlp0pHijwn72FC2jh49iqlTp8LNzS3XPg3Pnz/Pskz9wVYfijU1NQWQ9QfjXf3xxx8a/X62bduGx48fa3wJVahQAadPn5aGJwPAnj17sgwLz09un3/+OZRKJRYvXqyxfP78+ZDJZLl+CebH559/jpiYGGzevFlalpGRgV9++QVmZmbw9fXN9zpv3ryJ+/fvZ1keHx+PsLAwWFtbo3Tp0tDT00P79u2xe/dunDt3Lku8+qiDvr5+liNPW7dulfpZ5MTOzk4qLB4/fpyl/enTp9L/P//8c5w+fRpnzpzRaF+/fn3uTzYXvr6+aNq0KX7++WekpKRotLm6ukJfXz9L/5alS5e+8/Zy0qVLF4SFheHgwYNZ2uLj47WaofZtpUuXRpMmTfD7779nea/f9yhhft43bfeN3D572n5+c1K3bl1UqFABc+bMQXJyco75KpVKJCQkaLTZ2dnByckp21NJmXl7ewNAls+Jh4cHqlSpghUrVmgc7Vu2bBlkMhk6deqU63pzel38/Pwgl8uxaNEijdf3t99+Q0JCAlq3bp3revMrIiICwLuPVCtKPGJD2L9/P27cuIGMjAzExsbi6NGjCAkJgaurK3bt2pXrJGBTpkxBaGgoWrduDVdXVzx58gRLly5FmTJl0LhxYwBvvqSsrKywfPlymJubw9TUFF5eXlr1G8iOjY0NGjdujL59+yI2NhYLFixAxYoVNYak9+vXD9u2bUPLli3RpUsX3L59G+vWrdPozJvf3L744gs0a9YMY8eOxd27d+Hp6YlDhw5h586dGD58eJZ1v6sBAwbg119/RZ8+fRAREYFy5cph27ZtOHnyJBYsWJClj482Ll26hO7du6NVq1bw8fGBjY0NHj58iDVr1uDRo0dYsGCBdIh/xowZOHToEHx9fTFgwABUrVoVjx8/xtatW/HPP//AysoKbdq0wZQpU9C3b180bNgQV65cwfr167X6a3rJkiVo3LgxatSogf79+6N8+fKIjY1FWFgY/vvvP2m+kx9//BFr165Fy5YtMWzYMGm4t/qI1ruaOHEimjVrlmW5paUlOnfujF9++QUymQwVKlTAnj17svR3KQgjR47Erl270KZNG/Tp0wd169bFy5cvceXKFWzbtg137959p1MAixYtQuPGjVGnTh0MGDAAbm5uuHv3Lvbu3fve85Fo+75pu2/k9tnT9vObEz09PaxatQqtWrWCh4cH+vbtC2dnZzx8+BDHjh2DhYUFdu/ejaSkJJQpUwadOnWCp6cnzMzMcPjwYZw9exZz587NdRvly5dH9erVcfjwYXz99dcabbNnz0bbtm3RokULdOvWDZGRkVi8eDH69euX5xGQWrVqQV9fHz///DMSEhKgUCjw6aefws7ODmPGjMHkyZPRsmVLtG3bFlFRUVi6dCk++eQTrSZWVE/Gqe4ovXv3bvz3338AgG+//RaWlpZSbEhICMqWLfvxDfUGONy7JFMP91bf5HK5cHBwEJ999plYuHChxrBitbeHex85ckS0a9dOODk5CblcLpycnERAQECWYaw7d+4U1apVEwYGBhrDDH19fYWHh0e2+eU0tHPjxo1izJgxws7OThgbG4vWrVtnO2x57ty5wtnZWSgUCtGoUSNx7ty5LOvMLbe3h3sLIURSUpL47rvvhJOTkzA0NBSVKlUSs2fPzjKcFkC2Q0hzGsb6ttjYWNG3b19RqlQpIZfLRY0aNXIcFqvNcO/Y2Fgxa9Ys4evrKxwdHYWBgYGwtrYWn376qdi2bVuW+Hv37olevXqJ0qVLC4VCIcqXLy8GDx4sUlNThRBvhvR+//33wtHRURgbG4tGjRqJsLCwLK9vdkOShRDi9u3bolevXsLBwUEYGhoKZ2dn0aZNmyy5XL58Wfj6+gojIyPh7Owspk6dKn777bd8D/d+m3ro+9uv3dOnT0XHjh2FiYmJsLa2Fv/73/9EZGRktsO9TU1Ns11vdvtzdu9TUlKSGDNmjKhYsaKQy+WiVKlSomHDhmLOnDkiLS1NCPH/r9/s2bOzrDOn1zYyMlJ8+eWXwsrKShgZGQl3d3cxfvz4HF+nvLaTmTbvm7b7hhA5f/aE0O7zq/5O2Lp1a7b5XrhwQXTo0EHY2toKhUIhXF1dRZcuXcSRI0eEEEKkpqaKkSNHCk9PT2Fubi5MTU2Fp6enWLp0aa6vg9q8efOEmZmZxlBzte3bt4tatWoJhUIhypQpI8aNGye9r3lZuXKlKF++vNDX188y9Hvx4sWiSpUqwtDQUNjb24uBAweKFy9eaLVeV1fXHIf1Z/48KZVK4ejoKMaNG6fVeosbmRDFoCcjERHRRyYhIQHly5dHUFAQAgMDizqdArNjxw50794dt2/fljpDf0xY2BAREb2jn3/+GatXr8a1a9cK5fpUhcHb2xs+Pj4ICgoq6lTeCQsbIiIi0hm6UV4SERERgYUNERER6RAWNkRERKQzWNgQERGRzuAEfYVIpVLh0aNHMDc3/ygvLEZERFRUhBBISkqCk5NTriPQWNgUokePHmW5KBoRERFp78GDByhTpkyO7SxsCpF6KvwHDx7AwsKiiLMhIiL6eCQmJsLFxSXPy8qwsClE6tNPFhYWLGyIiIjeQV5dOdh5mIiIiHQGCxsiIiLSGSxsiIiISGewsCEiIiKdwcKGiIiIdAYLGyIiItIZHO5NxZZSqcTly5cRFxcHW1tb1KxZE/r6+kWdFhERFWNFesQmNDQUX3zxBZycnCCTybBjx44cY7/55hvIZDIsWLBAY/nz58/Ro0cPWFhYwMrKCoGBgUhOTtaIuXz5Mnx8fGBkZAQXFxcEBQVlWf/WrVtRpUoVGBkZoUaNGti3b59GuxACEyZMgKOjI4yNjeHn54ebN2++83On3J04cQIBAQEYNmwYpkyZgmHDhiEgIAAnTpwo6tSIiKgYK9LC5uXLl/D09MSSJUtyjdu+fTtOnz4NJyenLG09evTA1atXERISgj179iA0NBQDBgyQ2hMTE9GiRQu4uroiIiICs2fPxqRJk7BixQop5tSpUwgICEBgYCAuXLiA9u3bo3379oiMjJRigoKCsGjRIixfvhzh4eEwNTWFv78/UlJSCuCVoMxOnDiBCRMmoHz58li2bBkOHDiAZcuWoXz58pgwYQKLGyIiypkoJgCI7du3Z1n+33//CWdnZxEZGSlcXV3F/PnzpbZr164JAOLs2bPSsv379wuZTCYePnwohBBi6dKlwtraWqSmpkoxo0aNEu7u7tL9Ll26iNatW2ts18vLS/zvf/8TQgihUqmEg4ODmD17ttQeHx8vFAqF2LhxY47PKSUlRSQkJEi3Bw8eCAAiISFBuxelBMrIyBCdO3cWo0aNEkqlUqNNqVSKUaNGiS5duoiMjIwiypCIiIpCQkKCVr+hxbrzsEqlQs+ePTFy5Eh4eHhkaQ8LC4OVlRXq1asnLfPz84Oenh7Cw8OlmCZNmkAul0sx/v7+iIqKwosXL6QYPz8/jXX7+/sjLCwMABAdHY2YmBiNGEtLS3h5eUkx2Zk5cyYsLS2lGy+AmbfLly8jJiYGPXv2zHL1Vj09PXz11Vd4/PgxLl++XEQZEhFRcVasC5uff/4ZBgYGGDp0aLbtMTExsLOz01hmYGAAGxsbxMTESDH29vYaMer7ecVkbs/8uOxisjNmzBgkJCRItwcPHuT6fAmIi4sDALi5uWXbXr58eY04IiKizIrtqKiIiAgsXLgQ58+fz/OCV8WVQqGAQqEo6jQ+Kra2tgDeHCXL7ijdnTt3NOKIiIgyK7ZHbP7++288efIEZcuWhYGBAQwMDHDv3j18//33KFeuHADAwcEBT5480XhcRkYGnj9/DgcHBykmNjZWI0Z9P6+YzO2ZH5ddDBWMmjVrwsHBAWvXroVKpdJoU6lUWLduHRwdHVGzZs0iypCIiIqzYlvY9OzZE5cvX8bFixelm5OTE0aOHImDBw8CALy9vREfH4+IiAjpcUePHoVKpYKXl5cUExoaivT0dCkmJCQE7u7usLa2lmKOHDmisf2QkBB4e3sDeHNaxMHBQSMmMTER4eHhUgwVDH19fQwePBhhYWH46aefEBkZiVevXiEyMhI//fQTwsLCMGjQIM5nQ0RE2SukzszZSkpKEhcuXBAXLlwQAMS8efPEhQsXxL1797KNf3tUlBBCtGzZUtSuXVuEh4eLf/75R1SqVEkEBARI7fHx8cLe3l707NlTREZGik2bNgkTExPx66+/SjEnT54UBgYGYs6cOeL69eti4sSJwtDQUFy5ckWKmTVrlrCyshI7d+4Uly9fFu3atRNubm7i9evXWj9fbXt0kxDHjx8XnTt3Fj4+PtKtS5cu4vjx40WdGhERFQFtf0OLtLA5duyYAJDl1rt372zjsyts4uLiREBAgDAzMxMWFhaib9++IikpSSPm0qVLonHjxkKhUAhnZ2cxa9asLOvesmWLqFy5spDL5cLDw0Ps3btXo12lUonx48cLe3t7oVAoRPPmzUVUVFS+ni8Lm/zJyMgQ58+fFyEhIeL8+fMc4k1EVIJp+xsqE0KIojpaVNIkJibC0tISCQkJsLCwKOp0iIiIPhra/oYW2z42RERERPnFwoaIiIh0BgsbIiIi0hksbIiIiEhnsLAhIiIincHChoiIiHQGCxsiIiLSGSxsiIiISGewsCEiIiKdwcKGiIiIdAYLGyIiItIZLGyIiIhIZ7CwISIiIp3BwoaIiIh0BgsbIiIi0hksbIiIiEhnsLAhIiIincHChoiIiHQGCxsiIiLSGSxsiIiISGewsCEiIiKdwcKGiIiIdAYLGyIiItIZLGyIiIhIZ7CwISIiIp3BwoaIiIh0BgsbIiIi0hksbIiIiEhnsLAhIiIinVGkhU1oaCi++OILODk5QSaTYceOHVJbeno6Ro0ahRo1asDU1BROTk7o1asXHj16pLGO58+fo0ePHrCwsICVlRUCAwORnJysEXP58mX4+PjAyMgILi4uCAoKypLL1q1bUaVKFRgZGaFGjRrYt2+fRrsQAhMmTICjoyOMjY3h5+eHmzdvFtyLQURERO+tSAubly9fwtPTE0uWLMnS9urVK5w/fx7jx4/H+fPn8ddffyEqKgpt27bViOvRoweuXr2KkJAQ7NmzB6GhoRgwYIDUnpiYiBYtWsDV1RURERGYPXs2Jk2ahBUrVkgxp06dQkBAAAIDA3HhwgW0b98e7du3R2RkpBQTFBSERYsWYfny5QgPD4epqSn8/f2RkpLyAV4ZIiIieieimAAgtm/fnmvMmTNnBABx7949IYQQ165dEwDE2bNnpZj9+/cLmUwmHj58KIQQYunSpcLa2lqkpqZKMaNGjRLu7u7S/S5duojWrVtrbMvLy0v873//E0IIoVKphIODg5g9e7bUHh8fLxQKhdi4cWOO+aakpIiEhATp9uDBAwFAJCQk5PFqEBERUWYJCQla/YZ+VH1sEhISIJPJYGVlBQAICwuDlZUV6tWrJ8X4+flBT08P4eHhUkyTJk0gl8ulGH9/f0RFReHFixdSjJ+fn8a2/P39ERYWBgCIjo5GTEyMRoylpSW8vLykmOzMnDkTlpaW0s3FxeX9XgAiIiLK1UdT2KSkpGDUqFEICAiAhYUFACAmJgZ2dnYacQYGBrCxsUFMTIwUY29vrxGjvp9XTOb2zI/LLiY7Y8aMQUJCgnR78OBBvp4zERER5Y9BUSegjfT0dHTp0gVCCCxbtqyo09GaQqGAQqEo6jSIiIhKjGJ/xEZd1Ny7dw8hISHS0RoAcHBwwJMnTzTiMzIy8Pz5czg4OEgxsbGxGjHq+3nFZG7P/LjsYoiIiKjoFevCRl3U3Lx5E4cPH4atra1Gu7e3N+Lj4xERESEtO3r0KFQqFby8vKSY0NBQpKenSzEhISFwd3eHtbW1FHPkyBGNdYeEhMDb2xsA4ObmBgcHB42YxMREhIeHSzFERERU9Iq0sElOTsbFixdx8eJFAG866V68eBH3799Heno6OnXqhHPnzmH9+vVQKpWIiYlBTEwM0tLSAABVq1ZFy5Yt0b9/f5w5cwYnT57EkCFD0K1bNzg5OQEAunfvDrlcjsDAQFy9ehWbN2/GwoULMWLECCmPYcOG4cCBA5g7dy5u3LiBSZMm4dy5cxgyZAgAQCaTYfjw4Zg2bRp27dqFK1euoFevXnByckL79u0L9TUjIiKiXBTOIK3sHTt2TADIcuvdu7eIjo7Otg2AOHbsmLSOuLg4ERAQIMzMzISFhYXo27evSEpK0tjOpUuXROPGjYVCoRDOzs5i1qxZWXLZsmWLqFy5spDL5cLDw0Ps3btXo12lUonx48cLe3t7oVAoRPPmzUVUVFS+nq+2Q9WIiIhIk7a/oTIhhCiSiqoESkxMhKWlJRISEjT6ChEREVHutP0NLdZ9bIiIiIjyg4UNERER6QwWNkRERKQzWNgQERGRzmBhQ0RERDqDhQ0RERHpDBY2REREpDNY2BAREZHOYGFDREREOoOFDREREekMFjZERESkM1jYEBERkc5gYUNEREQ6g4UNERER6QwWNkRERKQzWNgQERGRzmBhQ0RERDqDhQ0RERHpDBY2REREpDNY2BAREZHOYGFDREREOoOFDREREekMFjZERESkM1jYEBERkc5gYUNEREQ6g4UNERER6QwWNkRERKQzWNgQERGRzmBhQ0RERDqjSAub0NBQfPHFF3BycoJMJsOOHTs02oUQmDBhAhwdHWFsbAw/Pz/cvHlTI+b58+fo0aMHLCwsYGVlhcDAQCQnJ2vEXL58GT4+PjAyMoKLiwuCgoKy5LJ161ZUqVIFRkZGqFGjBvbt25fvXIiIiKhoFWlh8/LlS3h6emLJkiXZtgcFBWHRokVYvnw5wsPDYWpqCn9/f6SkpEgxPXr0wNWrVxESEoI9e/YgNDQUAwYMkNoTExPRokULuLq6IiIiArNnz8akSZOwYsUKKebUqVMICAhAYGAgLly4gPbt26N9+/aIjIzMVy5ERERUxEQxAUBs375duq9SqYSDg4OYPXu2tCw+Pl4oFAqxceNGIYQQ165dEwDE2bNnpZj9+/cLmUwmHj58KIQQYunSpcLa2lqkpqZKMaNGjRLu7u7S/S5duojWrVtr5OPl5SX+97//aZ1LdlJSUkRCQoJ0e/DggQAgEhIS8vPSEBERlXgJCQla/YYW2z420dHRiImJgZ+fn7TM0tISXl5eCAsLAwCEhYXBysoK9erVk2L8/Pygp6eH8PBwKaZJkyaQy+VSjL+/P6KiovDixQspJvN21DHq7WiTS3ZmzpwJS0tL6ebi4vKuLwcRERFpodgWNjExMQAAe3t7jeX29vZSW0xMDOzs7DTaDQwMYGNjoxGT3ToybyOnmMzteeWSnTFjxiAhIUG6PXjwII9nTURERO/DoKgT0GUKhQIKhaKo0yAiIioxiu0RGwcHBwBAbGysxvLY2FipzcHBAU+ePNFoz8jIwPPnzzVisltH5m3kFJO5Pa9ciIiIqOgV28LGzc0NDg4OOHLkiLQsMTER4eHh8Pb2BgB4e3sjPj4eERERUszRo0ehUqng5eUlxYSGhiI9PV2KCQkJgbu7O6ytraWYzNtRx6i3o00uREREVAwUUmfmbCUlJYkLFy6ICxcuCABi3rx54sKFC+LevXtCCCFmzZolrKysxM6dO8Xly5dFu3bthJubm3j9+rW0jpYtW4ratWuL8PBw8c8//4hKlSqJgIAAqT0+Pl7Y29uLnj17isjISLFp0yZhYmIifv31Vynm5MmTwsDAQMyZM0dcv35dTJw4URgaGoorV65IMdrkkhdte3QTERGRJm1/Q4u0sDl27JgAkOXWu3dvIcSbYdbjx48X9vb2QqFQiObNm4uoqCiNdcTFxYmAgABhZmYmLCwsRN++fUVSUpJGzKVLl0Tjxo2FQqEQzs7OYtasWVly2bJli6hcubKQy+XCw8ND7N27V6Ndm1zywsKGiIjo3Wj7GyoTQoiiOlpU0iQmJsLS0hIJCQmwsLAo6nSIiIg+Gtr+hhbbPjZERERE+cXChoiIiHQGCxsiIiLSGSxsiIiISGewsCEiIiKdwcKGiIiIdAYLGyIiItIZLGyIiIhIZ7CwISIiIp3BwoaIiIh0xnsVNikpKQWVBxEREdF7y3dho1KpMHXqVDg7O8PMzAx37twBAIwfPx6//fZbgSdIREREpK18FzbTpk1DcHAwgoKCIJfLpeXVq1fHqlWrCjQ5IiIiovzId2Hzxx9/YMWKFejRowf09fWl5Z6enrhx40aBJkdERESUH/kubB4+fIiKFStmWa5SqZCenl4gSRERERG9i3wXNtWqVcPff/+dZfm2bdtQu3btAkmKiIiI6F0Y5PcBEyZMQO/evfHw4UOoVCr89ddfiIqKwh9//IE9e/Z8iByJiIiItJLvIzbt2rXD7t27cfjwYZiammLChAm4fv06du/ejc8+++xD5EgllFKpxIULF3D48GFcuHABSqWyqFMiIqJiTiaEEEWdREmRmJgIS0tLJCQkwMLCoqjTKdZOnDiBJUuWICYmRlrm4OCAwYMHw9fXtwgzIyKioqDtbyhnHqZi58SJE5gwYQLKly+PZcuW4cCBA1i2bBnKly+PCRMm4MSJE0WdIhERFVP5PmKjp6cHmUyWYztPF+SMR2zyplQqERAQgPLly2PGjBnQ0/v/2lulUuGnn35CdHQ0NmzYoDHdABER6TZtf0Pz3Xl4+/btGvfT09Nx4cIFrFmzBpMnT85/pkSZXL58GTExMZg4caJGUQO8Kaq/+uorDBo0CJcvX+YoPCIiyiLfhU27du2yLOvUqRM8PDywefNmBAYGFkhiVDLFxcUBANzc3LJtL1++vEYcERFRZgXWx6ZBgwY4cuRIQa2OSihbW1sAQHR0dLbt6muTqeOIiIgyK5DC5vXr11i0aBGcnZ0LYnVUgtWsWRMODg5Yu3YtVCqVRptKpcK6devg6OiImjVrFlGGRERUnOX7VJS1tbVG52EhBJKSkmBiYoJ169YVaHJU8ujr62Pw4MGYMGECfvrpJ3z11VcoX7487ty5g3Xr1iEsLAxTpkxhx2EiIspWvkdFBQcHaxQ2enp6KF26NLy8vGBtbV3gCeoSjorSXnbz2Dg6OmLQoEGcx4aIqATS9jeUE/QVIhY2+ZOWloYdO3bg0aNHcHJyQvv27SGXy4s6LSIiKgIFOtz78uXLWm+YfR+oIGR3xGbbtm2ceZiIiHKlVefhWrVqoXbt2qhVq1aut4KeV0SpVGL8+PFwc3ODsbExKlSogKlTpyLzQSYhBCZMmABHR0cYGxvDz88PN2/e1FjP8+fP0aNHD1hYWMDKygqBgYFITk7WiLl8+TJ8fHxgZGQEFxcXBAUFZcln69atqFKlCoyMjFCjRg3s27evQJ8vvcGZh4mI6J0JLdy9e1frW0GaPn26sLW1FXv27BHR0dFi69atwszMTCxcuFCKmTVrlrC0tBQ7duwQly5dEm3bthVubm7i9evXUkzLli2Fp6enOH36tPj7779FxYoVRUBAgNSekJAg7O3tRY8ePURkZKTYuHGjMDY2Fr/++qsUc/LkSaGvry+CgoLEtWvXxLhx44ShoaG4cuWK1s8nISFBABAJCQnv+croroyMDNG5c2cxatQooVQqNdqUSqUYNWqU6NKli8jIyCiiDImIqCho+xuqVWFTVFq3bi2+/vprjWUdOnQQPXr0EEIIoVKphIODg5g9e7bUHh8fLxQKhdi4caMQQohr164JAOLs2bNSzP79+4VMJhMPHz4UQgixdOlSYW1tLVJTU6WYUaNGCXd3d+l+ly5dROvWrTVy8fLyEv/73/9yzD8lJUUkJCRItwcPHrCwycP58+eFj4+PiIyMzLb9ypUrwsfHR5w/f76QMyMioqKkbWHzzvPYXLt2DQcOHMCuXbs0bgWpYcOGOHLkCP79918AwKVLl/DPP/+gVatWAN5M4hYTEwM/Pz/pMZaWlvDy8kJYWBgAICwsDFZWVqhXr54U4+fnBz09PYSHh0sxTZo00eiY6u/vj6ioKLx48UKKybwddYx6O9mZOXMmLC0tpZuLi8v7vBwlAmceJiKi95HveWzu3LmDL7/8EleuXIFMJpP6u6iHgBfkRTBHjx6NxMREVKlSBfr6+lAqlZg+fTp69OgBAFLHUnt7e43H2dvbS20xMTGws7PTaDcwMICNjY1GzNs/pOp1xsTEwNraGjExMbluJztjxozBiBEjpPuJiYksbvKQeeZhDw+PLO2ceZiIiHKT7yM2w4YNg5ubG548eQITExNcvXoVoaGhqFevHo4fP16gyW3ZsgXr16/Hhg0bcP78eaxZswZz5szBmjVrCnQ7H4pCoYCFhYXGjXLHmYeJiOh95PuITVhYGI4ePYpSpUpBT08Penp6aNy4MWbOnImhQ4fiwoULBZbcyJEjMXr0aHTr1g0AUKNGDdy7dw8zZ85E79694eDgAACIjY2Fo6Oj9LjY2FjUqlULAODg4IAnT55orDcjIwPPnz+XHu/g4IDY2FiNGPX9vGLU7VQwMs88PGbMGHh5eUGhUCA1NRXh4eE4ffo0Zx4mIqIc5fuIjVKphLm5OQCgVKlSePToEQDA1dUVUVFRBZrcq1evoKenmaK+vr70l7ybmxscHBw0Lr6ZmJiI8PBweHt7AwC8vb0RHx+PiIgIKebo0aNQqVTw8vKSYkJDQ5Geni7FhISEwN3dXZpN2dvbO8tFPkNCQqTtUMHx9fVF165dcebMGSxYsAA///wzFixYgDNnzqBr166cx4aIiHKU7yM21atXx6VLl+Dm5gYvLy8EBQVBLpdjxYoVUsfOgvLFF19g+vTpKFu2LDw8PHDhwgXMmzcPX3/9NYA3/XqGDx+OadOmoVKlSnBzc8P48eOlWWoBoGrVqmjZsiX69++P5cuXIz09HUOGDEG3bt3g5OQEAOjevTsmT56MwMBAjBo1CpGRkVi4cCHmz58v5TJs2DD4+vpi7ty5aN26NTZt2oRz585hxYoVBfqc6c08Nps3b0aDBg3g7OyMtLQ0yOVyPHz4EJs3b4aHhweLGyIiyl5+h1sdOHBA/Pnnn0IIIW7evCnc3d2FTCYTpUqVEkeOHHmnIVw5SUxMFMOGDRNly5YVRkZGonz58mLs2LEaw7JVKpUYP368sLe3FwqFQjRv3lxERUVprCcuLk4EBAQIMzMzYWFhIfr27SuSkpI0Yi5duiQaN24sFAqFcHZ2FrNmzcqSz5YtW0TlypWFXC4XHh4eYu/evfl6PpzHJm/qeWz69esnOnXqJHx8fKRbp06dRL9+/TiPDRFRCaTtb6jW14qqV68e+vXrh+7du2fpBPv8+fMsV/2mrHitqLxduHABw4YNA/BmuH/Pnj3h5uaG6OhorF27FqdOnQIALFy4sMBnuiYiouJL299QrfvYeHp64scff4SjoyN69eqlMQLKxsaGRQ0ViKdPnwIAvLy8MGPGDHh4eMDExAQeHh6YMWOG1C9KHUdERJSZ1oXNb7/9hpiYGCxZsgT3799H8+bNUbFiRcyYMQMPHz78kDlSCRIfHw8AaNKkSZaO43p6evDx8dGIIyIiyixfo6JMTEzQp08fHD9+HP/++y+6deuGX3/9FeXKlUPr1q3x119/fag8qYSwsrICAISGhmY7j83ff/+tEUdERJTZO19SoUKFCpg2bRru3r2LjRs34vTp0+jcuXNB5kYlUOnSpQEAZ86cwU8//YTIyEi8evUKkZGR+Omnn3DmzBmNOCIioszyPdw7s+PHj2P16tX4888/YWBggP79+xdUXlRCqWcetrS0xJ07dzBo0CCpzdHREZUrV0ZiYiJnHiYiomzlu7D577//EBwcjODgYNy5cwc+Pj5YunQpOnfuDGNj4w+RI5UgmWcebtCgAbp168aZh4mISGtaD/fesmULfv/9dxw5cgR2dnbo3bs3vv76a1SsWPFD56gzONxbeydOnMCSJUs0LjLq6OiIQYMGcXI+IqISSNvfUK2P2Hz11Vdo3bo1tm/fjs8//zzLiBWigvb2leIzMjKKKBMiIvpYaH3E5smTJ7Czs/vQ+eg0HrHRzokTJzB+/Pgc26dOncqjNkREJUyBT9DHooYKg1KpxMyZMwEg23lsAGDmzJlZjuYQEREB7zHcm+hDOH/+PF69egUAqF+/PpYtW4YDBw5g2bJlqF+/PoA3V30/f/58UaZJRETFFAsbKlb2798PAChXrhxmzZqlcUmFWbNmoVy5chpxREREmbGwoWIlNjYWANCqVatsT0W1bNlSI46IiCgzFjZUrNjb2wN4c0Qmu0sqHDhwQCOOiIgoM62Ge1tbW2t99e7nz5+/V0JUsrVq1QqHDx/G3bt3MXr0aPTq1Qvly5fHnTt38Mcff+Du3btSHBER0du0KmwWLFgg/T8uLg7Tpk2Dv78/vL29AQBhYWE4ePBgrkN0ibRRp04dmJiY4NWrV9JMw2rqU1MmJiaoU6dOUaVIRETFmNbz2Kh17NgRzZo1w5AhQzSWL168GIcPH8aOHTsKMj+dwnlstMN5bIiI6G3a/obmu7AxMzPDxYsXs1xK4datW6hVqxaSk5PfLeMSgIWN9k6cOIFffvkFT548kZbZ2dnh22+/ZVFDRFQCFfgEfWq2trbYuXNnluU7d+6Era1tfldHlK2rV6/i2bNnGsuePXuGq1evFlFGRET0Mcj31b0nT56Mfv364fjx4/Dy8gIAhIeH48CBA1i5cmWBJ0glz9KlS7Fp0yZYW1ujX79+aNiwIU6dOoVVq1Zh06ZNAIBBgwYVcZZERFQc5ftUFPCmkFm0aBGuX78OAKhatSqGDh0qFTqUPZ6KyltaWhr8/f1hYWGBP//8EwYG/197Z2RkoGPHjkhMTMTBgwchl8uLMFMiIipMBX5178y8vLywfv36d06OKCc7duyAUqlEv379NIoaADAwMEBgYCDmzJmDHTt2oEuXLkWUJRERFVfvNEHf7du3MW7cOHTv3l3q3Ll//372f6D39ujRIwBAw4YNs21XL1fHERERZZbvwubEiROoUaMGwsPD8eeff0qjoC5duoSJEycWeIJUsjg5OQEATp06lW27erk6joiIKLN8FzajR4/GtGnTEBISotHH4dNPP9WYTI3oXbRv3x76+vpYtWoVMjIyNNoyMjLw22+/QV9fH+3bty+aBImIqFjLd2Fz5coVfPnll1mW29nZZRmeS5RfcrkcnTt3xosXL9CxY0fs2rULz549w65du9CxY0e8ePECnTt3ZsdhIiLKVr47D1tZWeHx48dwc3PTWH7hwgU4OzsXWGJUcqmHcm/duhVz5syRluvr66Nbt24c6k1ERDnKd2HTrVs3jBo1Clu3boVMJoNKpcLJkyfxww8/oFevXh8iRyqBBg0ahL59+2LZsmV4+PAhnJ2dMXDgQBgbGxd1akREVIzlex6btLQ0DB48GMHBwVAqlTAwMIBSqUT37t0RHBwMfX39D5XrR4/z2GjvxIkTWLRoEZ4+fSotK126NIYOHcpLKhARlUAf7JIKcrkcK1euxO3bt7Fnzx6sW7cON27cwNq1az9IUfPw4UN89dVXsLW1hbGxMWrUqIFz585J7UIITJgwAY6OjjA2Noafnx9u3rypsY7nz5+jR48esLCwgJWVFQIDA7Nc0+ry5cvw8fGBkZERXFxcEBQUlCWXrVu3okqVKjAyMkKNGjWwb9++An++9P8Xwcxc1ADA06dPMX78eJw4caKIMiMiouLuneaxAYCyZcvi888/R5cuXVCpUqWCzEny4sULNGrUCIaGhti/fz+uXbuGuXPnwtraWooJCgrCokWLsHz5coSHh8PU1BT+/v5ISUmRYnr06IGrV68iJCQEe/bsQWhoKAYMGCC1JyYmokWLFnB1dUVERARmz56NSZMmYcWKFVLMqVOnEBAQgMDAQFy4cAHt27dH+/btERkZ+UGee0mlVCoxdepUAIChoSF69OiBDRs2oEePHjA0NATw5ureSqWyKNMkIqJiSqtTUSNGjNB6hfPmzXuvhDIbPXo0Tp48ib///jvbdiEEnJyc8P333+OHH34AACQkJMDe3h7BwcHo1q0brl+/jmrVquHs2bOoV68eAODAgQP4/PPP8d9//8HJyQnLli3D2LFjERMTI422GT16NHbs2IEbN24AALp27YqXL19iz5490vYbNGiAWrVqYfny5dnml5qaitTUVOl+YmIiXFxceCoqF+Hh4Rg5ciT09fWzXDZBfbkFpVKJ2bNn8xIeREQlSIGeirpw4YJWt4sXLxZU/gCAXbt2oV69eujcuTPs7OxQu3ZtjQttRkdHIyYmBn5+ftIyS0tLeHl5ISwsDAAQFhYGKysrqagBAD8/P+jp6SE8PFyKadKkicaPqL+/P6KiovDixQspJvN21DHq7WRn5syZsLS0lG4uLi7v8WqUDJs3bwYAdOzYMcuQbrlcjg4dOmjEERERZabVqKhjx4596DyydefOHSxbtgwjRozATz/9hLNnz2Lo0KGQy+Xo3bs3YmJiAAD29vYaj7O3t5faYmJiYGdnp9FuYGAAGxsbjZi3h6+r1xkTEwNra2vExMTkup3sjBkzRuNol/qIDeUsKSkJAODh4ZFte7Vq1TTiiIiIMnuni2AWFpVKhXr16mHGjBkAgNq1ayMyMhLLly9H7969izi7vCkUCigUiqJO46NStWpVREVFYcWKFWjcuDEiIyMRFxcHW1tbVK9eXTpiV7Vq1SLOlIiIiqN3KmzOnTuHLVu24P79+0hLS9No++uvvwokMQBwdHSU/kJXq1q1Kv78808AgIODAwAgNjYWjo6OUkxsbCxq1aolxagv1KmWkZGB58+fS493cHBAbGysRoz6fl4x6nYqGAMHDsSOHTvw8OFD+Pv7a1xWwcDAQLo/cODAokqRiIiKsXyPitq0aRMaNmyI69evY/v27UhPT8fVq1dx9OhRWFpaFmhyjRo1QlRUlMayf//9F66urgAANzc3ODg44MiRI1J7YmIiwsPD4e3tDQDw9vZGfHw8IiIipJijR49CpVJJnU+9vb0RGhqK9PR0KSYkJATu7u7SCCxvb2+N7ahj1NuhgmFsbIwqVaoAQLbXigKAKlWqcKI+IiLKVr4LmxkzZmD+/PnYvXs35HI5Fi5ciBs3bqBLly4oW7ZsgSb33Xff4fTp05gxYwZu3bqFDRs2YMWKFRg8eDAAQCaTYfjw4Zg2bRp27dqFK1euoFevXnBycpIukli1alW0bNkS/fv3x5kzZ3Dy5EkMGTIE3bp1k64Q3b17d8jlcgQGBuLq1avYvHkzFi5cqNE/ZtiwYThw4ADmzp2LGzduYNKkSTh37hyGDBlSoM+5pFMqlYiPj9cY0p+ZtbU1EhISONybiIiyJ/LJxMREREdHCyGEsLGxEZcvXxZCCHHt2jXh4OCQ39Xlaffu3aJ69epCoVCIKlWqiBUrVmi0q1QqMX78eGFvby8UCoVo3ry5iIqK0oiJi4sTAQEBwszMTFhYWIi+ffuKpKQkjZhLly6Jxo0bC4VCIZydncWsWbOy5LJlyxZRuXJlIZfLhYeHh9i7d2++nktCQoIAIBISEvL1uJLk/PnzwsfHR0RGRoqkpCQxevRo0bt3bzF69GiRlJQkrly5Inx8fMT58+eLOlUiIipE2v6G5ruPjbW1tTQixdnZGZGRkahRowbi4+Px6tWrAi67gDZt2qBNmzY5tstkMkyZMgVTpkzJMcbGxgYbNmzIdTs1a9bMcb4ctc6dO6Nz5865J0zvJS4uDsCbGacnT54sjTq7c+cOvv76a/Tr108jjoiIKLN8FzZNmjRBSEgIatSogc6dO2PYsGE4evQoQkJC0Lx58w+RI5Ugtra2AIDp06fD29sbEydOhJubG6Kjo7F27VpMnz5dI46IiCizfF8E8/nz50hJSYGTkxNUKhWCgoJw6tQpVKpUCePGjcuxbwTxIpjaUM8ubGFhgT///BMGBv9fe2dkZKBjx45ITEzMMisxERHpNm1/Q/N9xMbGxkb6v56eHkaPHv1uGRJl4+rVq1AqlXjx4gXGjRuH+vXrQ6FQIDU1FWfOnJFmgr569Spq165dxNkSEVFxk+/CZt++fdDX14e/v7/G8kOHDkGpVKJVq1YFlhyVPOq+Mx07dsSOHTtw6tQpqU1fXx8dO3bEn3/+yT42RESUrXwXNqNHj8asWbOyLFepVBg9ejQLG3ov6r4zf/75Jxo0aIAyZcogNTUVCoUC//33nzQ5I/vYEBFRdvJd2Ny8eTPLbMDAm0nTbt26VSBJUcnl4eEBfX19GBkZ4e7duzh9+rTU5uDgAFNTU6SkpOR4LSkiIirZ8l3YWFpa4s6dOyhXrpzG8lu3bsHU1LSg8qISSt3H5uXLl5DL5ejatSucnJzw6NEjHDp0CC9fvpTi2MeGiIjelu/Cpl27dhg+fDi2b9+OChUqAHhT1Hz//fdo27ZtgSdIJcvTp08BvLlOWGxsLDZv3iy16enpwdHREY8fP5biiIiIMsv3JRWCgoJgamqKKlWqwM3NDW5ubqhatSpsbW0xZ86cD5EjlSDx8fEAgMePH6Nu3bpwdHSEubk5HB0dUbduXTx+/FgjjoiIKLN3OhV16tQphISE4NKlSzA2NkbNmjXRpEmTD5EflTDquQlkMhnOnj0rLU9KSsLjx48hk8kghOA8QERElK18FzbAmx+dFi1aoEWLFgWdD5VwiYmJAAD1vJHVqlVDv379sGrVKly7dk1aro4jIiLKTOtTUWFhYdizZ4/Gsj/++ANubm6ws7PDgAEDkJqaWuAJUsmSeTZhGxsbXLt2DSNGjMC1a9c0hnhz1mEiIsqO1oXNlClTcPXqVen+lStXEBgYCD8/P4wePRq7d+/GzJkzP0iSVHL89ddf0v8rV66MJk2aoE6dOmjSpAkqVaqUbRwREZGa1qeiLl68iKlTp0r3N23aBC8vL6xcuRIA4OLigokTJ2LSpEkFniSVHOrh3Obm5hpz2KiZmZkhOTlZiiMiIspM68LmxYsXsLe3l+6fOHFCY5bhTz75BA8ePCjY7KjEsbe3x9OnT5GUlAQDAwP4+vqiatWquH79Ok6cOIHk5GQpjoiI6G1an4qyt7dHdHQ0gDdXYD5//jwaNGggtSclJcHQ0LDgM6QSZfLkydL/ra2tceTIESxevBhHjhzRuABr5jgiIiI1rQubzz//HKNHj8bff/+NMWPGwMTEBD4+PlL75cuXpQn7iN7VsWPHpP8/ffoULi4u8PHxgYuLC548eZJtHBERkZrWp6KmTp2KDh06wNfXF2ZmZlizZo3GyJTff/+dw7/pvT169AgAYGVlhfj4eDx48EDjFKelpSUSEhKkOCIiosy0LmxKlSqF0NBQJCQkwMzMDPr6+hrtW7duhZmZWYEnSCWLk5MTgDczC9etWxfR0dF49eoVTExM4ObmhoiICI04IiKizGRCPeMZfXCJiYnSEQfOnJu9169fw9/fH3p6b86SqlQqqS3zsoMHD8LY2LhIciQiosKn7W9ovq8VRfQh3bhxA8Cb4kUIgRYtWuC3335DixYtIISQCh11HBERUWbvdEkFog8lNjYWAKBQKJCeno5Dhw7h0KFDAAB9fX0YGBggNTVViiMiIsqMR2yoWLl27RoAoFOnTtizZw8aNWqE8uXLo1GjRti9ezc6duyoEUdERJQZj9hQsXT48GFs2rQJSqUSAHDnzh188cUXKFWqVBFnRkRExRmP2FCxUqZMGQBvTknp6emhR48e2LBhA3r06AE9PT3pFJQ6joiIKDOOiipEHBWVt+TkZHz++ecA3kwx8OzZM6mtdOnSePr0KQBg3759nF6AiKgE4ago+ijt27dP+r9SqUStWrXg6emJWrVqISMjI9s4IiIiNfaxoWJFPaNwxYoVcevWLbx48UKjXb2cMw8TEVF2WNhQsaKeUfjWrVuwsLBA6dKlkZGRAQMDAzx9+hS3bt3SiCMiIsrsozoVNWvWLMhkMgwfPlxalpKSgsGDB8PW1hZmZmbo2LFjljlO7t+/j9atW8PExAR2dnYYOXKkxmkNADh+/Djq1KkDhUKBihUrIjg4OMv2lyxZgnLlysHIyAheXl44c+bMh3iaJZq6fw3wpr/N7du3ce/ePdy+fRvJycnZxhEREal9NIXN2bNn8euvv6JmzZoay7/77jvs3r0bW7duxYkTJ/Do0SN06NBBalcqlWjdujXS0tJw6tQprFmzBsHBwZgwYYIUEx0djdatW6NZs2a4ePEihg8fjn79+uHgwYNSzObNmzFixAhMnDgR58+fh6enJ/z9/TWuOE3vL3PfGSEE6tWrhwEDBqBevXrI3M+dfWyIiCg7H8WoqOTkZNSpUwdLly7FtGnTUKtWLSxYsAAJCQkoXbo0NmzYgE6dOgF4M9V+1apVERYWhgYNGmD//v1o06YNHj16BHt7ewDA8uXLMWrUKDx9+hRyuRyjRo3C3r17ERkZKW2zW7duiI+Px4EDBwAAXl5e+OSTT7B48WIAb6b8d3FxwbfffovRo0dr9Tw4Kipvc+fOxc6dO2FgYJDlqBoAaXm7du3w/fffF0GGRERUFHRqVNTgwYPRunVr+Pn5aSyPiIhAenq6xvIqVaqgbNmyCAsLAwCEhYWhRo0aUlEDAP7+/khMTMTVq1elmLfX7e/vL60jLS0NERERGjF6enrw8/OTYrKTmpqKxMREjRvlTj28OyMjAw0aNECTJk1Qp04dNGnSBA0aNJCKnczDwImIiNSKfefhTZs24fz58zh79myWtpiYGMjlclhZWWkst7e3R0xMjBSTuahRt6vbcotJTEzE69ev8eLFCyiVymxjcrsY48yZMzF58mTtnigBAGxtbQG8KRzv3r0rvUcA4ODgAD09PahUKimOiIgos2J9xObBgwcYNmwY1q9fDyMjo6JOJ9/GjBmDhIQE6fbgwYOiTqnY09N7s0uqVCrExcWhe/fuWL9+Pbp37464uDjp6t7qOCIiosyK9RGbiIgIPHnyBHXq1JGWKZVKhIaGYvHixTh48CDS0tIQHx+vcdQmNjYWDg4OAN78lf/26CX1qKnMMW+PpIqNjYWFhQWMjY2hr68PfX39bGPU68iOQqGAQqHI/xMvwapUqQLgTeGSkZGBDRs2YMOGDQAAmUwmHbFRxxEREWVWrP/sbd68Oa5cuYKLFy9Kt3r16qFHjx7S/w0NDXHkyBHpMVFRUbh//z68vb0BAN7e3rhy5YrG6KWQkBBYWFigWrVqUkzmdahj1OuQy+WoW7euRoxKpcKRI0ekGCoY6iHdKpUKlpaWGjMPW1paSkdsMg/9JiIiUivWR2zMzc1RvXp1jWWmpqawtbWVlgcGBmLEiBGwsbGBhYUFvv32W3h7e6NBgwYAgBYtWqBatWro2bMngoKCEBMTg3HjxmHw4MHS0ZRvvvkGixcvxo8//oivv/4aR48exZYtW7B3715puyNGjEDv3r1Rr1491K9fHwsWLMDLly/Rt2/fQno1Sgb1kTcrKyvEx8fj4sWLWdrfPkJHRESkVqwLG23Mnz8fenp66NixI1JTU+Hv74+lS5dK7fr6+tizZw8GDhwIb29vmJqaonfv3pgyZYoU4+bmhr179+K7777DwoULUaZMGaxatQr+/v5STNeuXfH06VNMmDABMTExqFWrFg4cOJClQzG9n9KlSwMA4uPjYWlpCSEEUlNToVAoIJPJEB8frxFHRESU2Ucxj42u4Dw2eUtLS4O/vz9UKhWy2zXV/WwOHjwIuVxeBBkSEVFR0Kl5bKjkuHr1KpRKpVTU2Nvbo1GjRtKRMSEElEqlNAcRERFRZh/9qSjSLZmHxOvp6SE2NlYajaavrw+lUinF1a5du0hyJCKi4ouFDRUr27Ztk/5fv359lClTRupj899//+H06dNSXNu2bYsqTSIiKqZY2FCxoh7GbWRkhLt370qFDPBmviEjIyOkpKRwuDcREWWLhQ0VK2ZmZnj27BlSUlKQkpICT09Pqe3evXtISUmR4oiIiN7GwoaKlQ4dOmDevHkA3gz5Vg/vzi6OiIjobRwVRcVKWlqaxn1zc3PUrVsX5ubmucYREREBPGJDxYyJiYnG/aSkJEREROQZR0REBPCIDRUzJ0+elP5vamoqXcVbT08Ppqam2cYRERGp8YgNFSvqzsEA8PLlS+n/KpVK437mOCIiIjUesaFixcjISOO+XC6HpaVllssnvB1HREQEsLChYubt2YTT0tKQkJCQpbMwZx0mIqLssLChYmXr1q0a983NzVGxYsUso6LejiMiIgLYx4aKmVevXmncT0pKQlJSUp5xREREAAsbKmbS09Ol/+vr68PBwQEymQxCCMTExEgXwcwcR0REpMbChooVW1tbPHz4EACgVCql/2cXR0RE9Db2saFixdDQUOO+qakp3NzcNOawyS6OiIgIYGFDxYyHh4fG/ZcvXyI6OlpjDpvs4oiIiAAWNlTMaHskhkdsiIgoOyxsqFipXLlygcYREVHJwsKGipV///23QOOIiKhkYWFDxYq289NwHhsiIsoOCxsqVg4fPqxx39LSEtbW1rC0tMw1joiICOA8NlTMqFQqjfsJCQlaxREREQEsbKiYUc8yrGZiYgK5XI60tDSN008ymawo0iMiomKOp6KoWClbtqzG/VevXiE+Pj5Ln5q344iIiAAWNlTMaHskhkdsiIgoOyxsqFh5u5Pw+8YREVHJwsKGipWYmJgCjSMiopKlWBc2M2fOxCeffAJzc3PY2dmhffv2iIqK0ohJSUnB4MGDYWtrCzMzM3Ts2BGxsbEaMffv30fr1q1hYmICOzs7jBw5EhkZGRoxx48fR506daBQKFCxYkUEBwdnyWfJkiUoV64cjIyM4OXlhTNnzhT4cy7pDAy068+ubRwREZUsxbqwOXHiBAYPHozTp08jJCQE6enpaNGihcYFEb/77jvs3r0bW7duxYkTJ/Do0SN06NBBalcqlWjdujXS0tJw6tQprFmzBsHBwZgwYYIUEx0djdatW6NZs2a4ePEihg8fjn79+uHgwYNSzObNmzFixAhMnDgR58+fh6enJ/z9/fHkyZPCeTFKiIcPHxZoHBERlSwykXlsbTH39OlT2NnZ4cSJE2jSpAkSEhJQunRpbNiwAZ06dQIA3LhxA1WrVkVYWBgaNGiA/fv3o02bNnj06BHs7e0BAMuXL8eoUaPw9OlTyOVyjBo1Cnv37kVkZKS0rW7duiE+Ph4HDhwAAHh5eeGTTz7B4sWLAbyZR8XFxQXffvstRo8erVX+iYmJsLS0REJCAiwsLArypdEZTZo00To2NDT0A2ZCRETFiba/ocX6iM3b1JO12djYAAAiIiKQnp4OPz8/KaZKlSooW7YswsLCAABhYWGoUaOGVNQAgL+/PxITE3H16lUpJvM61DHqdaSlpSEiIkIjRk9PD35+flJMdlJTU5GYmKhxIyIiog/noylsVCoVhg8fjkaNGqF69eoA3nQglcvlsLKy0oi1t7eXOpfGxMRoFDXqdnVbbjGJiYl4/fo1nj17BqVSmW1Mbp1YZ86cCUtLS+nm4uKS/ydOREREWvtoCpvBgwcjMjISmzZtKupUtDZmzBgkJCRItwcPHhR1SkRERDrtoxhaMmTIEOzZswehoaEoU6aMtNzBwQFpaWmIj4/XOGoTGxsLBwcHKebt0UvqUVOZY94eSRUbGwsLCwsYGxtDX18f+vr62cao15EdhUIBhUKR/ydMRERE76RYH7ERQmDIkCHYvn07jh49Cjc3N432unXrwtDQEEeOHJGWRUVF4f79+/D29gYAeHt748qVKxqjl0JCQmBhYYFq1apJMZnXoY5Rr0Mul6Nu3boaMSqVCkeOHJFiqGBw5mEiInofxfqIzeDBg7Fhwwbs3LkT5ubmUn8WS0tLGBsbw9LSEoGBgRgxYgRsbGxgYWGBb7/9Ft7e3mjQoAEAoEWLFqhWrRp69uyJoKAgxMTEYNy4cRg8eLB0NOWbb77B4sWL8eOPP+Lrr7/G0aNHsWXLFuzdu1fKZcSIEejduzfq1auH+vXrY8GCBXj58iX69u1b+C+MDrO0tER8fLxWcURERG8r1oXNsmXLAABNmzbVWL569Wr06dMHADB//nzo6emhY8eOSE1Nhb+/P5YuXSrF6uvrY8+ePRg4cCC8vb1hamqK3r17Y8qUKVKMm5sb9u7di++++w4LFy5EmTJlsGrVKvj7+0sxXbt2xdOnTzFhwgTExMSgVq1aOHDgQJYOxfR+0tPTCzSOiIhKlo9qHpuPHeexyduXX36JuLi4PONsbW2xffv2QsiIiIiKA52cx4Z0nzZFTX7iiIioZGFhQ0RERDqDhQ0RERHpDBY2VKxoO+8P5wciIqLssLChYsXQ0LBA44iIqGRhYUPFilKpLNA4IiIqWVjYULHy+vXrAo0jIqKShYUNERER6QwWNkRERKQzWNgQERGRzmBhQ0RERDqDhQ0RERHpjGJ9dW8qHlJSUnDv3r2iTiOLqKioQtmOq6srjIyMCmVbRET0fljYUJ7u3buH/v37F3UaWRRWTitXroS7u3uhbIuIiN4PCxvKk6urK1auXFko28pPsVJYObm6uhbKdoiI6P2xsKE8GRkZFdoRizlz5uCHH37QKo5HUYiI6G3sPEzFSv369Qs0joiIShYWNlTshIaGvlc7ERGVXCxsqFgKDQ3FnDlzNJbNmTOHRQ0REeWKhQ0VW/Xr15c6CK9cuZKnn4iIKE8sbIiIiEhnsLAhIiIincHChoiIiHQG57H5iMTGxiI+Pr6o0yhU6ks5FMdLOnxoVlZWsLe3L+o0iIg+KjIhhCjqJEqKxMREWFpaIiEhARYWFvl6bGxsLHr0+AppaakfKDsqbuRyBdavX8fihogI2v+G8ojNRyI+Ph5paalIqdAUwtiqqNOhD0z2Oh64fRzx8fEsbIiI8oGFzUdGGFtBZVqqqNOgD4yd34iI3g2/P4mIiEhn8IjNR0b2Op7VaAkgex1f1CmUKGPHjsXff/8t3ffx8cH06dOLMCPSVXfu3MHXX38NlUoFPT09/P777yhfvnxRp6VTWNjk05IlSzB79mzExMTA09MTv/zyS6HOiGt0+3ihbYuoJGjSpEmWZX///TeaNGnCS3hQgXp7X1OpVOjTpw8AXgOvILGwyYfNmzdjxIgRWL58Oby8vLBgwQL4+/sjKioKdnZ2hZJDapm6EArzQtkWFR1ZahIU/0UUdRo6L7ui5u12/uBQQci8rxkaGqJnz55Yu3Yt0tPTpXbuawWDhU0+zJs3D/3790ffvn0BAMuXL8fevXvx+++/Y/To0R9021ZWVpDLFQB/7EoMuVwBKyurok5DZ40dO1b6f5cuXTBkyBDp/uLFi7FlyxYpjqel6H3cuXNH+v+mTZvg5OQEAOjTpw8ePXqEbt26SXE8LfX+WNhoKS0tDRERERgzZoy0TE9PD35+fggLC8v2MampqUhN/f95ZxITE995+/b29li/fl2RTNCXmpqKmJiYQt8uADx+/Bi//fYbAgMD4ejoWCQ5ODg4QKFQFPp2i3KCvn///Rd3794t9O2+evUKt2/fLpRtZe5Tk5qairlz5+YYl1NbQatQoQJMTEwKZVuZlStXDpUrVy707QIlY1/buXMnAEAmk2Hjxo1Z2mUyGYQQ6NOnD9q1a1coOenyvsYJ+rT06NEjODs749SpU/D29paW//jjjzhx4gTCw8OzPGbSpEmYPHlyluXvMkFfUYqKikL//v2LOo0is3LlSri7uxd1GoXq22+/xaVLl4o6DSok6v6CRYH7WsnyPvsaJ+grBsaMGYMRI0ZI9xMTE+Hi4lKEGb0bV1dXrFy5sqjTKDKurq5FnUKh+/bbb0vMX9EAsv0rOa/2D6Eo/4ouKiVpX5PJZGjbtm2W9l27dkF9jIH72vtjYaOlUqVKQV9fH7GxsRrLY2Nj4eDgkO1jFApFkZzCKGhGRkYl7ohFSVe5cuUiOzVRWJ4/fy6djlIoFFn62Kj5+Pjg+++/L/T8SoqSsK99+eWX6NOnD4QQCAgIkPrYAG/OBqgLn+DgYPaxKQA8FZUPXl5eqF+/vnQYTaVSoWzZshgyZIhWnYff51pRRFTw8hoVBXAYLhWMt0dFdevWDZs2bZJGRQHc1/Ki7W8o53rLhxEjRmDlypVYs2YNrl+/joEDB+Lly5fSKCki+rjk9UPCHxoqKJn3pfT0dI2h3m+30/thYZMPXbt2xZw5czBhwgTUqlULFy9exIEDB3iRQqKPWGhoKHx8fDSW+fj48IeGClxoaCiCg4Ohp/fmp1dPTw/BwcHc1woYT0UVIp6KIiIiejc8FUVEREQlDgsbIiIi0hksbIiIiEhnsLAhIiIincHChoiIiHQGCxsiIiLSGbykQiFSj6x/n6t8ExERlUTq3868ZqlhYVOIkpKSAOCjvBAmERFRcZCUlARLS8sc2zlBXyFSqVR49OgRzM3NIZPJijqdj4L6iugPHjzgpIb0QXFfo8LCfe3dCCGQlJQEJycnafbm7PCITSHS09NDmTJlijqNj5KFhQW/AKhQcF+jwsJ9Lf9yO1Kjxs7DREREpDNY2BAREZHOYGFDxZpCocDEiROhUCiKOhXScdzXqLBwX/uw2HmYiIiIdAaP2BAREZHOYGFDREREOoOFDREREekMFjZUYO7evQuZTIaLFy8WdSpE76RcuXJYsGBBUadBRO+BnYepwCiVSjx9+hSlSpWCgQHnfqTiKzg4GMOHD0d8fLzG8qdPn8LU1BQmJiZFkxgRvTf++lCBSEtLg1wuh4ODQ1GnQiWcel98F6VLly7gbIiKjhACSqWyxP2hyVNRlK2mTZtiyJAhGDJkCCwtLVGqVCmMHz9euqpquXLlMHXqVPTq1QsWFhYYMGBAtqeirl69ijZt2sDCwgLm5ubw8fHB7du3pfZVq1ahatWqMDIyQpUqVbB06VKt8lNv66+//kKzZs1gYmICT09PhIWFSTGTJk1CrVq1NB63YMEClCtXTrrfp08ftG/fHjNmzIC9vT2srKwwZcoUZGRkYOTIkbCxsUGZMmWwevXq/L+IVCjU++rw4cNRqlQp+Pv7Y968eahRowZMTU3h4uKCQYMGITk5GQBw/Phx9O3bFwkJCZDJZJDJZJg0aRKArKeiZDIZVq1ahS+//BImJiaoVKkSdu3apbH9Xbt2oVKlSjAyMkKzZs2wZs0ayGSyLEeDqHjI67vtxYsX6NWrF6ytrWFiYoJWrVrh5s2b0uODg4NhZWWFHTt2SO+7v78/Hjx4oNX2L126hGbNmsHc3BwWFhaoW7cuzp07J7WfPHkSTZs2hYmJCaytreHv748XL14AAFJTUzF06FDY2dnByMgIjRs3xtmzZ6XHHj9+HDKZDPv370fdunWhUCjwzz//QKVSYebMmXBzc4OxsTE8PT2xbdu2gng5iydBlA1fX19hZmYmhg0bJm7cuCHWrVsnTExMxIoVK4QQQri6ugoLCwsxZ84ccevWLXHr1i0RHR0tAIgLFy4IIYT477//hI2NjejQoYM4e/asiIqKEr///ru4ceOGEEKIdevWCUdHR/Hnn3+KO3fuiD///FPY2NiI4ODgPPNTb6tKlSpiz549IioqSnTq1Em4urqK9PR0IYQQEydOFJ6enhqPmz9/vnB1dZXu9+7dW5ibm4vBgweLGzduiN9++00AEP7+/mL69Oni33//FVOnThWGhobiwYMH7//CUoFT76sjR44UN27cEDdu3BDz588XR48eFdHR0eLIkSPC3d1dDBw4UAghRGpqqliwYIGwsLAQjx8/Fo8fPxZJSUlCiDf79fz586V1AxBlypQRGzZsEDdv3hRDhw4VZmZmIi4uTgghxJ07d4ShoaH44YcfxI0bN8TGjRuFs7OzACBevHhR2C8FaSGv77a2bduKqlWritDQUHHx4kXh7+8vKlasKNLS0oQQQqxevVoYGhqKevXqiVOnTolz586J+vXri4YNG2q1fQ8PD/HVV1+J69evi3///Vds2bJFXLx4UQghxIULF4RCoRADBw4UFy9eFJGRkeKXX34RT58+FUIIMXToUOHk5CT27dsnrl69Knr37i2sra2l/fHYsWMCgKhZs6Y4dOiQuHXrloiLixPTpk0TVapUEQcOHBC3b98Wq1evFgqFQhw/frygX95igYUNZcvX11dUrVpVqFQqadmoUaNE1apVhRBvfgDat2+v8Zi3C5sxY8YINzc36QvhbRUqVBAbNmzQWDZ16lTh7e2dZ37qba1atUpadvXqVQFAXL9+XQihfWHj6uoqlEqltMzd3V34+PhI9zMyMoSpqanYuHFjnnlR4fP19RW1a9fONWbr1q3C1tZWur969WphaWmZJS67wmbcuHHS/eTkZAFA7N+/Xwjx5jNRvXp1jXWMHTuWhU0xltt327///isAiJMnT0ptz549E8bGxmLLli1CiDf7DgBx+vRpKeb69esCgAgPD89z++bm5jn+8RYQECAaNWqUbVtycrIwNDQU69evl5alpaUJJycnERQUJIT4/8Jmx44dUkxKSoowMTERp06d0lhfYGCgCAgIyDPfjxFPRVGOGjRoAJlMJt339vbGzZs3oVQqAQD16tXL9fEXL16Ej48PDA0Ns7S9fPkSt2/fRmBgIMzMzKTbtGnTNE5V5aVmzZrS/x0dHQEAT5480frxAODh4QE9vf//KNjb26NGjRrSfX19fdja2uZ7vVR46tatq3H/8OHDaN68OZydnWFubo6ePXsiLi4Or169yve6M+9jpqamsLCwkPaFqKgofPLJJxrx9evXf4dnQIUpp++2a9euwcDAAF5eXlKbra0t3N3dcf36dWmZgYGBxvtepUoVWFlZacTkZMSIEejXrx/8/Pwwa9Ysje+7ixcvonnz5tk+7vbt20hPT0ejRo2kZYaGhqhfv36W7Wb+br516xZevXqFzz77TOO79o8//sjXd+3HpGT1KKICZWpqmmu7sbFxjm3q/g4rV67U+BIB3hQS2spcNKm/qFQqFQBAT09POm+ulp6enus61OvJbpl6vVT8ZN4X7969izZt2mDgwIGYPn06bGxs8M8//yAwMBBpaWn5HvHEfYEK0qRJk9C9e3fs3bsX+/fvx8SJE7Fp0yZ8+eWXuX5n5kfmz4P6u3bv3r1wdnbWiNPVa1XxiA3lKDw8XOP+6dOnUalSJa0Lj5o1a+Lvv//Otpiwt7eHk5MT7ty5g4oVK2rc3NzcCiT/0qVLIyYmRqO44Rw7ui8iIgIqlQpz585FgwYNULlyZTx69EgjRi6XS0ce34e7u7tGx08AGp05qXjK6butWrVqyMjI0GiPi4tDVFQUqlWrJi3LyMjQeN+joqIQHx+PqlWrarX9ypUr47vvvsOhQ4fQoUMHaXBCzZo1ceTIkWwfU6FCBcjlcpw8eVJalp6ejrNnz2rk9rZq1apBoVDg/v37Wb5rXVxctMr3Y8PChnJ0//59jBgxAlFRUdi4cSN++eUXDBs2TOvHDxkyBImJiejWrRvOnTuHmzdvYu3atYiKigIATJ48GTNnzsSiRYvw77//4sqVK1i9ejXmzZtXIPk3bdoUT58+RVBQEG7fvo0lS5Zg//79BbJuKr4qVqyI9PR0/PLLL7hz5w7Wrl2L5cuXa8SUK1cOycnJOHLkCJ49e/ZOp6gA4H//+x9u3LiBUaNG4d9//8WWLVsQHBwMABqnOqh4yem7rVKlSmjXrh369++Pf/75B5cuXcJXX30FZ2dntGvXTnq8oaEhvv32W4SHhyMiIgJ9+vRBgwYN8jwN+fr1awwZMgTHjx/HvXv3cPLkSZw9e1YqiMaMGYOzZ89i0KBBuHz5Mm7cuIFly5bh2bNnMDU1xcCBAzFy5EgcOHAA165dQ//+/fHq1SsEBgbmuE1zc3P88MMP+O6777BmzRrcvn0b58+fxy+//II1a9YUzAtazLCwoRz16tULr1+/Rv369TF48GAMGzYMAwYM0Prxtra2OHr0KJKTk+Hr64u6deti5cqV0qH9fv36YdWqVVi9ejVq1KgBX19fBAcHF9gRm6pVq2Lp0qVYsmQJPD09cebMGfzwww8Fsm4qvjw9PTFv3jz8/PPPqF69OtavX4+ZM2dqxDRs2BDffPMNunbtitKlSyMoKOidtuXm5oZt27bhr7/+Qs2aNbFs2TKMHTsWgO4e5tcFuX23rV69GnXr1kWbNm3g7e0NIQT27duncUrSxMQEo0aNQvfu3dGoUSOYmZlh8+bNeW5XX18fcXFx6NWrFypXrowuXbqgVatWmDx5MoA3R3IOHTqES5cuoX79+vD29sbOnTuleWhmzZqFjh07omfPnqhTpw5u3bqFgwcPwtraOtftTp06FePHj8fMmTNRtWpVtGzZEnv37i2w79rihjMPU7aaNm2KWrVqcXp5onyaPn06li9frvW8JlS43ve7LadZq6n4YOdhIqL3sHTpUnzyySewtbXFyZMnMXv2bAwZMqSo0yIqsXgqioqlGTNmaAxNzHxr1apVUadHJLl58ybatWuHatWqYerUqfj++++lmYyp5PHw8Mjxu2v9+vVFnV6JwFNRVCw9f/4cz58/z7bN2Ng4y7BFIqLi4N69e9mOBAXejAY1Nzcv5IxKHhY2REREpDN4KoqIiIh0BgsbIiIi0hksbIiIiEhnsLAhIiIincHChoiIiHQGCxsiKrb69OkDmUyW5Xbr1q33XndwcDCsrKzeP0kiKlY48zARFWstW7aUrn6sVrp06SLKJnvp6eka1xIioqLDIzZEVKwpFAo4ODho3PT19bFz507UqVMHRkZGKF++PCZPnoyMjAzpcfPmzUONGjVgamoKFxcXDBo0CMnJyQCA48ePo2/fvkhISJCOAqlnC5bJZNixY4dGDlZWVtJVu+/evQuZTIbNmzfD19cXRkZG0oyyq1atQtWqVWFkZIQqVapg6dKl0jrS0tIwZMgQODo6wsjICK6urlkuzklE749HbIjoo/P333+jV69eWLRoEXx8fHD79m3p6swTJ04EAOjp6WHRokVwc3PDnTt3MGjQIPz4449YunQpGjZsiAULFmDChAmIiooCAJiZmeUrh9GjR2Pu3LmoXbu2VNxMmDABixcvRu3atXHhwgX0798fpqam6N27NxYtWoRdu3Zhy5YtKFu2LB48eMALZRJ9ACxsiKhY27Nnj0bR0apVK7x48QKjR49G7969AQDly5fH1KlT8eOPP0qFzfDhw6XHlCtXDtOmTcM333yDpUuXQi6Xw9LSEjKZDA4ODu+U1/Dhw9GhQwfp/sSJEzF37lxpmZubG65du4Zff/0VvXv3xv3791GpUiU0btwYMpkMrq6u77RdIsodCxsiKtaaNWuGZcuWSfdNTU1Rs2ZNnDx5EtOnT5eWK5VKpKSk4NWrVzAxMcHhw4cxc+ZM3LhxA4mJicjIyNBof1/16tWT/v/y5Uvcvn0bgYGB6N+/v7Q8IyMDlpaWAN50hP7ss8/g7u6Oli1bok2bNmjRosV750FEmljYEFGxZmpqiooVK2osS05OxuTJkzWOmKgZGRnh7t27aNOmDQYOHIjp06fDxsYG//zzDwIDA5GWlpZrYSOTyfD2JfSyu6ihqampRj4AsHLlSnh5eWnE6evrAwDq1KmD6Oho7N+/H4cPH0aXLl3g5+eHbdu25fEKEFF+sLAhoo9OnTp1EBUVlaXgUYuIiIBKpcLcuXOhp/dmjMSWLVs0YuRyOZRKZZbHli5dGo8fP5bu37x5E69evco1H3t7ezg5OeHOnTvo0aNHjnEWFhbo2rUrunbtik6dOqFly5Z4/vw5bGxscl0/EWmPhQ0RfXQmTJiANm3aoGzZsujUqRP09PRw6dIlREZGYtq0aahYsSLS09Pxyy+/4IsvvsDJkyexfPlyjXWUK1cOycnJOHLkCDw9PWFiYgITExN8+umnWLx4Mby9vaFUKjFq1CithnJPnjwZQ4cOhaWlJVq2bInU1FScO3cOL168wIgRIzBv3jw4Ojqidu3a0NPTw9atW+Hg4MC5dIgKGId7E9FHx9/fH3v27MGhQ4fwySefoEGDBpg/f77UIdfT0xPz5s3Dzz//jOrVq2P9+vVZhlY3bNgQ33zzDbp27YrSpUsjKCgIADB37ly4uLjAx8cH3bt3xw8//KBVn5x+/fph1apVWL16NWrUqAFfX18EBwfDzc0NAGBubo6goCDUq1cPn3zyCe7evYt9+/ZJR5SIqGDIxNsnk4mIiIg+UvxTgYiIiHQGCxsiIiLSGSxsiIiISGewsCEiIiKdwcKGiIiIdAYLGyIiItIZLGyIiIhIZ7CwISIiIp3BwoaIiIh0BgsbIiIi0hksbIiIiEhn/B9zVDaSOp4R+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data:image/png;base64,iVBORw0KGgoAAAANSUhEUgAAAjYAAAGJCAYAAACZwnkIAAAAOnRFWHRTb2Z0d2FyZQBNYXRwbG90bGliIHZlcnNpb24zLjEwLjAsIGh0dHBzOi8vbWF0cGxvdGxpYi5vcmcvlHJYcgAAAAlwSFlzAAAPYQAAD2EBqD+naQAAalZJREFUeJzt3Xl4TNf/B/D3ZJnJvpJVRGxBEFtFEKFSoRS1h9oafGspqlXUvmvsaitaUfvS2tdY0xJBrLGklliKBCEbss2c3x+eub+MbBMiicn79TzzMPd85t7PzNyZ+eTec86VCSEEiIiIiHSAXlEnQERERFRQWNgQERGRzmBhQ0RERDqDhQ0RERHpDBY2REREpDNY2BAREZHOYGFDREREOoOFDREREekMFjZERESkM1jYUL5MmjQJMpmsULbVtGlTNG3aVLp//PhxyGQybNu2rVC236dPH5QrV65QtvWukpOT0a9fPzg4OEAmk2H48OFFnZKGu3fvQiaTITg4uMDWGRwcDJlMhrt37xbYOj9GH+K1pfwLCgpClSpVoFKpijqVAtOgQQP8+OOPRZ3GO2NhU4KpfyDUNyMjIzg5OcHf3x+LFi1CUlJSgWzn0aNHmDRpEi5evFgg6ytIxTk3bcyYMQPBwcEYOHAg1q5di549e+YYm5aWhoULF6J27dqwsLCAlZUVPDw8MGDAANy4caMQsy4c6iLc3t4er169ytJerlw5tGnTpggyK37URVJ2twYNGnyQbX7snz0ASExMxM8//4xRo0ZBT0/z53TXrl2oU6cOjIyMULZsWUycOBEZGRl5rvPatWuYNGlSgRfuycnJmDhxIlq2bAkbG5tci+JRo0ZhyZIliImJKdAcCotBUSdARW/KlClwc3NDeno6YmJicPz4cQwfPhzz5s3Drl27ULNmTSl23LhxGD16dL7W/+jRI0yePBnlypVDrVq1tH7coUOH8rWdd5FbbitXriz2f4UdPXoUDRo0wMSJE/OM7dixI/bv34+AgAD0798f6enpuHHjBvbs2YOGDRuiSpUqhZBx4Xvy5AmWLVuG77//vqhTKVCurq54/fo1DA0NC2ydAQEB+PzzzzWWlS5dusDWn9m7fi8UJ7///jsyMjIQEBCgsXz//v1o3749mjZtil9++QVXrlzBtGnTpH0xN9euXcPkyZPRtGnTAj1i/OzZM0yZMgVly5aFp6cnjh8/nmNsu3btYGFhgaVLl2LKlCkFlkNhYWFDaNWqFerVqyfdHzNmDI4ePYo2bdqgbdu2uH79OoyNjQEABgYGMDD4sLvNq1evYGJiArlc/kG3k5eC/MH4UJ48eYJq1arlGXf27Fns2bMH06dPx08//aTRtnjxYsTHx3+gDIterVq1MHv2bAwaNEjajz9mGRkZUKlUkMvlMDIyKtB116lTB1999VWBrrOwpaSkQC6XZzmC8iGsXr0abdu2zfI+/PDDD6hZsyYOHTokfV9aWFhgxowZGDZsWJH8EeHo6IjHjx/DwcEB586dwyeffJJjrJ6eHjp16oQ//vgDkydPLrTuBwWFp6IoW59++inGjx+Pe/fuYd26ddLy7PrYhISEoHHjxrCysoKZmRnc3d2lH8/jx49LH6C+fftKh7fVh0CbNm2K6tWrIyIiAk2aNIGJiYn02Lf72KgplUr89NNPcHBwgKmpKdq2bYsHDx5oxJQrVw59+vTJ8tjM68wrt+z62Lx8+RLff/89XFxcoFAo4O7ujjlz5kAIoREnk8kwZMgQ7NixA9WrV4dCoYCHhwcOHDiQ/Qv+lidPniAwMBD29vYwMjKCp6cn1qxZI7Wr+xtFR0dj7969Uu45Hb6+ffs2AKBRo0ZZ2vT19WFra6ux7OHDhwgMDISTkxMUCgXc3NwwcOBApKWlAQCeP3+OH374ATVq1ICZmRksLCzQqlUrXLp0Savnd+PGDXTq1Ak2NjYwMjJCvXr1sGvXrixxV69exaeffgpjY2OUKVMG06ZNy/dRtAkTJiA2NjbPv5TVr+nbf8lm15elT58+MDMzw/3799GmTRuYmZnB2dkZS5YsAQBcuXIFn376KUxNTeHq6ooNGzZk2V58fDyGDx8u7UsVK1bEzz//rPH81NueM2cOFixYgAoVKkChUODatWs59rG5ceMGunTpgtKlS8PY2Bju7u4YO3Zsvl6znGjzvmmzb+T12dPm86tej0wmw6ZNmzBu3Dg4OzvDxMQEiYmJAIDw8HC0bNkSlpaWMDExga+vL06ePKmxzqSkJAwfPhzlypWDQqGAnZ0dPvvsM5w/fz7X1yI6OhqXL1+Gn5+fxvJr167h2rVrGDBggMYfgYMGDYIQItc+gsHBwejcuTMAoFmzZtLrknmfXLp0KTw8PKBQKODk5ITBgwdr9YeJQqGAg4NDnnFqn332Ge7du/dRnirkERvKUc+ePfHTTz/h0KFD6N+/f7YxV69eRZs2bVCzZk1MmTIFCoUCt27dkr48qlatiilTpmDChAkYMGAAfHx8AAANGzaU1hEXF4dWrVqhW7du+Oqrr2Bvb59rXtOnT4dMJsOoUaPw5MkTLFiwAH5+frh48WK+/iLXJrfMhBBo27Ytjh07hsDAQNSqVQsHDx7EyJEj8fDhQ8yfP18j/p9//sFff/2FQYMGwdzcHIsWLULHjh1x//79LIVEZq9fv0bTpk1x69YtDBkyBG5ubti6dSv69OmD+Ph4DBs2DFWrVsXatWvx3XffoUyZMtJplpxOG7i6ugIA1q9fj0aNGuV61O3Ro0eoX78+4uPjMWDAAFSpUgUPHz7Etm3b8OrVK8jlcty5cwc7duxA586d4ebmhtjYWPz666/w9fXFtWvX4OTklOP6r169ikaNGsHZ2RmjR4+GqakptmzZgvbt2+PPP//El19+CQCIiYlBs2bNkJGRIcWtWLEi30ddfHx88OmnnyIoKAgDBw4ssKM2SqUSrVq1QpMmTRAUFIT169djyJAhMDU1xdixY9GjRw906NABy5cvR69eveDt7Q03NzcAb45K+vr64uHDh/jf//6HsmXL4tSpUxgzZgweP36MBQsWaGxr9erVSElJwYABA6BQKGBjY5NtgXf58mX4+PjA0NAQAwYMQLly5XD79m3s3r0b06dPz/M5vXr1Cs+ePdNYZmlpCUNDQ63fN232jfx+9vIydepUyOVy/PDDD0hNTYVcLsfRo0fRqlUr1K1bFxMnToSenh5Wr16NTz/9FH///Tfq168PAPjmm2+wbds2DBkyBNWqVUNcXBz++ecfXL9+HXXq1Mlxm6dOnQKALDEXLlwAAI2j4ADg5OSEMmXKSO3ZadKkCYYOHYpFixbhp59+QtWqVQFA+nfSpEmYPHky/Pz8MHDgQERFRWHZsmU4e/YsTp48WaBHmevWrQsAOHnyJGrXrl1g6y0Ugkqs1atXCwDi7NmzOcZYWlqK2rVrS/cnTpwoMu828+fPFwDE06dPc1zH2bNnBQCxevXqLG2+vr4CgFi+fHm2bb6+vtL9Y8eOCQDC2dlZJCYmSsu3bNkiAIiFCxdKy1xdXUXv3r3zXGduufXu3Vu4urpK93fs2CEAiGnTpmnEderUSchkMnHr1i1pGQAhl8s1ll26dEkAEL/88kuWbWW2YMECAUCsW7dOWpaWlia8vb2FmZmZxnN3dXUVrVu3znV9QgihUqmk19re3l4EBASIJUuWiHv37mWJ7dWrl9DT08t2v1CpVEIIIVJSUoRSqdRoi46OFgqFQkyZMkVj2duvb/PmzUWNGjVESkqKxnobNmwoKlWqJC0bPny4ACDCw8OlZU+ePBGWlpYCgIiOjs71Oav31adPn4oTJ04IAGLevHlS+9uvnXr/OnbsWJbn9fZz6N27twAgZsyYIS178eKFMDY2FjKZTGzatElafuPGDQFATJw4UVo2depUYWpqKv7991+NbY0ePVro6+uL+/fva2zbwsJCPHnyJM+8mjRpIszNzbO8r+r3LSfqdWV3U78e2r5v2u4buX32tP38qt+z8uXLi1evXmnkValSJeHv76/x3F+9eiXc3NzEZ599Ji2ztLQUgwcPzvX1yc64ceMEAJGUlKSxfPbs2QKA9B5m9sknn4gGDRrkut6tW7dmux8+efJEyOVy0aJFC43Xd/HixQKA+P3337XOPbfXPjO5XC4GDhyo9XqLC56KolyZmZnlOjrKysoKALBz58537mirUCjQt29freN79eoFc3Nz6X6nTp3g6OiIffv2vdP2tbVv3z7o6+tj6NChGsu///57CCGwf/9+jeV+fn6oUKGCdL9mzZqwsLDAnTt38tyOg4ODRodEQ0NDDB06FMnJyThx4kS+c5fJZDh48CCmTZsGa2trbNy4EYMHD4arqyu6du0qHcpWqVTYsWMHvvjiiyx/carXA7x5z9R9GJRKJeLi4qTTkLkdwn/+/DmOHj2KLl26ICkpCc+ePcOzZ88QFxcHf39/3Lx5Ew8fPpRehwYNGkh/WQNvjkj16NEj38+/SZMmaNasGYKCgvD69et8Pz4n/fr1k/5vZWUFd3d3mJqaokuXLtJyd3d3WFlZabzvW7duhY+PD6ytraXX4NmzZ/Dz84NSqURoaKjGdjp27JhnJ96nT58iNDQUX3/9NcqWLavRpm0fiQEDBiAkJETj5unpma/37V33jffRu3dvjSNxFy9exM2bN9G9e3fExcVJ+b58+RLNmzdHaGio9H1lZWWF8PBwPHr0KF/bjIuLg4GBAczMzDSWq/cvhUKR5TFGRkbvvP8dPnwYaWlpGD58uEb/of79+8PCwgJ79+59p/XmRr1/fmx4KopylZycDDs7uxzbu3btilWrVqFfv34YPXo0mjdvjg4dOqBTp05ad95zdnbOV0fhSpUqadyXyWSoWLHiB5/X5N69e3ByctIoqoD/P0x87949jeVv/7gAb74oXrx4ked2KlWqlOX1y2k72lIoFBg7dizGjh2Lx48f48SJE1i4cCG2bNkCQ0NDrFu3Dk+fPkViYiKqV6+e67pUKhUWLlyIpUuXIjo6GkqlUmrL7TTbrVu3IITA+PHjMX78+Gxjnjx5AmdnZ9y7dw9eXl5Z2t3d3bV8xpomTZoEX19fLF++HN999907rSMzIyOjLMWGpaUlypQpk6WQsLS01Hjfb968icuXL+dYrDx58kTjvvoUVm7UhVNe711uKlWqlKXPCACcOXNG6/ftXfeN9/H263Pz5k0AbwqenCQkJMDa2hpBQUHo3bs3XFxcULduXXz++efo1asXypcv/065qAus1NTULG0pKSnvfCpU/bl/e/+Xy+UoX778O38v5EYI8dF1HAZY2FAu/vvvPyQkJKBixYo5xhgbGyM0NBTHjh3D3r17ceDAAWzevBmffvopDh06BH19/Ty38yFGquT0YVQqlVrlVBBy2o54q6NxUXB0dES3bt3QsWNHeHh4YMuWLfma6G3GjBkYP348vv76a0ydOhU2NjbQ09PD8OHDcz1yp2774Ycf4O/vn21Mbvvb+2jSpAmaNm2KoKAgfPPNN1nac9tnspPT+6vN+65SqfDZZ5/lOAla5cqVNe4X9Wiu/Lxv77pvZJbfz+/br496O7Nnz85xKLn6SEuXLl3g4+OD7du349ChQ5g9ezZ+/vln/PXXX2jVqlWOOdra2iIjIwNJSUkaf+w4OjoCAB4/fgwXFxeNxzx+/FjjCGRxFx8fj1KlShV1GvnGwoZytHbtWgDI8YtMTU9PD82bN0fz5s0xb948zJgxA2PHjsWxY8fg5+dX4BW/+q8xNSEEbt26pTHfjrW1dbYjBe7du6fxl1h+cnN1dcXhw4ezfJGpJ7dTd9B9X66urrh8+TJUKpXGUZuC3g7w5hRXzZo1cfPmTTx79gx2dnawsLBAZGRkro/btm0bmjVrht9++01jeV5fhOrX3tDQMNsjA5m5urpmea8BICoqKtfH5WbSpElo2rQpfv311yxt1tbWAJBlv/kQfwlXqFABycnJeb4G+aF+bfN6795n3dq8b9ruG7l99rT9/OZEfQrYwsJCq9fY0dERgwYNwqBBg/DkyRPUqVMH06dPz7WwUQ/Zjo6O1vjuURdS586d0yhiHj16hP/++w8DBgzINZecXhf15z4qKkrjNUhLS0N0dHSB7kvAm5GRaWlp0pHijwn72FC2jh49iqlTp8LNzS3XPg3Pnz/Pskz9wVYfijU1NQWQ9QfjXf3xxx8a/X62bduGx48fa3wJVahQAadPn5aGJwPAnj17sgwLz09un3/+OZRKJRYvXqyxfP78+ZDJZLl+CebH559/jpiYGGzevFlalpGRgV9++QVmZmbw9fXN9zpv3ryJ+/fvZ1keHx+PsLAwWFtbo3Tp0tDT00P79u2xe/dunDt3Lku8+qiDvr5+liNPW7dulfpZ5MTOzk4qLB4/fpyl/enTp9L/P//8c5w+fRpnzpzRaF+/fn3uTzYXvr6+aNq0KX7++WekpKRotLm6ukJfXz9L/5alS5e+8/Zy0qVLF4SFheHgwYNZ2uLj47WaofZtpUuXRpMmTfD7779nea/f9yhhft43bfeN3D572n5+c1K3bl1UqFABc+bMQXJyco75KpVKJCQkaLTZ2dnByckp21NJmXl7ewNAls+Jh4cHqlSpghUrVmgc7Vu2bBlkMhk6deqU63pzel38/Pwgl8uxaNEijdf3t99+Q0JCAlq3bp3revMrIiICwLuPVCtKPGJD2L9/P27cuIGMjAzExsbi6NGjCAkJgaurK3bt2pXrJGBTpkxBaGgoWrduDVdXVzx58gRLly5FmTJl0LhxYwBvvqSsrKywfPlymJubw9TUFF5eXlr1G8iOjY0NGjdujL59+yI2NhYLFixAxYoVNYak9+vXD9u2bUPLli3RpUsX3L59G+vWrdPozJvf3L744gs0a9YMY8eOxd27d+Hp6YlDhw5h586dGD58eJZ1v6sBAwbg119/RZ8+fRAREYFy5cph27ZtOHnyJBYsWJClj482Ll26hO7du6NVq1bw8fGBjY0NHj58iDVr1uDRo0dYsGCBdIh/xowZOHToEHx9fTFgwABUrVoVjx8/xtatW/HPP//AysoKbdq0wZQpU9C3b180bNgQV65cwfr167X6a3rJkiVo3LgxatSogf79+6N8+fKIjY1FWFgY/vvvP2m+kx9//BFr165Fy5YtMWzYMGm4t/qI1ruaOHEimjVrlmW5paUlOnfujF9++QUymQwVKlTAnj17svR3KQgjR47Erl270KZNG/Tp0wd169bFy5cvceXKFWzbtg137959p1MAixYtQuPGjVGnTh0MGDAAbm5uuHv3Lvbu3fve85Fo+75pu2/k9tnT9vObEz09PaxatQqtWrWCh4cH+vbtC2dnZzx8+BDHjh2DhYUFdu/ejaSkJJQpUwadOnWCp6cnzMzMcPjwYZw9exZz587NdRvly5dH9erVcfjwYXz99dcabbNnz0bbtm3RokULdOvWDZGRkVi8eDH69euX5xGQWrVqQV9fHz///DMSEhKgUCjw6aefws7ODmPGjMHkyZPRsmVLtG3bFlFRUVi6dCk++eQTrSZWVE/Gqe4ovXv3bvz3338AgG+//RaWlpZSbEhICMqWLfvxDfUGONy7JFMP91bf5HK5cHBwEJ999plYuHChxrBitbeHex85ckS0a9dOODk5CblcLpycnERAQECWYaw7d+4U1apVEwYGBhrDDH19fYWHh0e2+eU0tHPjxo1izJgxws7OThgbG4vWrVtnO2x57ty5wtnZWSgUCtGoUSNx7ty5LOvMLbe3h3sLIURSUpL47rvvhJOTkzA0NBSVKlUSs2fPzjKcFkC2Q0hzGsb6ttjYWNG3b19RqlQpIZfLRY0aNXIcFqvNcO/Y2Fgxa9Ys4evrKxwdHYWBgYGwtrYWn376qdi2bVuW+Hv37olevXqJ0qVLC4VCIcqXLy8GDx4sUlNThRBvhvR+//33wtHRURgbG4tGjRqJsLCwLK9vdkOShRDi9u3bolevXsLBwUEYGhoKZ2dn0aZNmyy5XL58Wfj6+gojIyPh7Owspk6dKn777bd8D/d+m3ro+9uv3dOnT0XHjh2FiYmJsLa2Fv/73/9EZGRktsO9TU1Ns11vdvtzdu9TUlKSGDNmjKhYsaKQy+WiVKlSomHDhmLOnDkiLS1NCPH/r9/s2bOzrDOn1zYyMlJ8+eWXwsrKShgZGQl3d3cxfvz4HF+nvLaTmTbvm7b7hhA5f/aE0O7zq/5O2Lp1a7b5XrhwQXTo0EHY2toKhUIhXF1dRZcuXcSRI0eEEEKkpqaKkSNHCk9PT2Fubi5MTU2Fp6enWLp0aa6vg9q8efOEmZmZxlBzte3bt4tatWoJhUIhypQpI8aNGye9r3lZuXKlKF++vNDX188y9Hvx4sWiSpUqwtDQUNjb24uBAweKFy9eaLVeV1fXHIf1Z/48KZVK4ejoKMaNG6fVeosbmRDFoCcjERHRRyYhIQHly5dHUFAQAgMDizqdArNjxw50794dt2/fljpDf0xY2BAREb2jn3/+GatXr8a1a9cK5fpUhcHb2xs+Pj4ICgoq6lTeCQsbIiIi0hm6UV4SERERgYUNERER6RAWNkRERKQzWNgQERGRzuAEfYVIpVLh0aNHMDc3/ygvLEZERFRUhBBISkqCk5NTriPQWNgUokePHmW5KBoRERFp78GDByhTpkyO7SxsCpF6KvwHDx7AwsKiiLMhIiL6eCQmJsLFxSXPy8qwsClE6tNPFhYWLGyIiIjeQV5dOdh5mIiIiHQGCxsiIiLSGSxsiIiISGewsCEiIiKdwcKGiIiIdAYLGyIiItIZHO5NxZZSqcTly5cRFxcHW1tb1KxZE/r6+kWdFhERFWNFesQmNDQUX3zxBZycnCCTybBjx44cY7/55hvIZDIsWLBAY/nz58/Ro0cPWFhYwMrKCoGBgUhOTtaIuXz5Mnx8fGBkZAQXFxcEBQVlWf/WrVtRpUoVGBkZoUaNGti3b59GuxACEyZMgKOjI4yNjeHn54ebN2++83On3J04cQIBAQEYNmwYpkyZgmHDhiEgIAAnTpwo6tSIiKgYK9LC5uXLl/D09MSSJUtyjdu+fTtOnz4NJyenLG09evTA1atXERISgj179iA0NBQDBgyQ2hMTE9GiRQu4uroiIiICs2fPxqRJk7BixQop5tSpUwgICEBgYCAuXLiA9u3bo3379oiMjJRigoKCsGjRIixfvhzh4eEwNTWFv78/UlJSCuCVoMxOnDiBCRMmoHz58li2bBkOHDiAZcuWoXz58pgwYQKLGyIiypkoJgCI7du3Z1n+33//CWdnZxEZGSlcXV3F/PnzpbZr164JAOLs2bPSsv379wuZTCYePnwohBBi6dKlwtraWqSmpkoxo0aNEu7u7tL9Ll26iNatW2ts18vLS/zvf/8TQgihUqmEg4ODmD17ttQeHx8vFAqF2LhxY47PKSUlRSQkJEi3Bw8eCAAiISFBuxelBMrIyBCdO3cWo0aNEkqlUqNNqVSKUaNGiS5duoiMjIwiypCIiIpCQkKCVr+hxbrzsEqlQs+ePTFy5Eh4eHhkaQ8LC4OVlRXq1asnLfPz84Oenh7Cw8OlmCZNmkAul0sx/v7+iIqKwosXL6QYPz8/jXX7+/sjLCwMABAdHY2YmBiNGEtLS3h5eUkx2Zk5cyYsLS2lGy+AmbfLly8jJiYGPXv2zHL1Vj09PXz11Vd4/PgxLl++XEQZEhFRcVasC5uff/4ZBgYGGDp0aLbtMTExsLOz01hmYGAAGxsbxMTESDH29vYaMer7ecVkbs/8uOxisjNmzBgkJCRItwcPHuT6fAmIi4sDALi5uWXbXr58eY04IiKizIrtqKiIiAgsXLgQ58+fz/OCV8WVQqGAQqEo6jQ+Kra2tgDeHCXL7ijdnTt3NOKIiIgyK7ZHbP7++288efIEZcuWhYGBAQwMDHDv3j18//33KFeuHADAwcEBT5480XhcRkYGnj9/DgcHBykmNjZWI0Z9P6+YzO2ZH5ddDBWMmjVrwsHBAWvXroVKpdJoU6lUWLduHRwdHVGzZs0iypCIiIqzYlvY9OzZE5cvX8bFixelm5OTE0aOHImDBw8CALy9vREfH4+IiAjpcUePHoVKpYKXl5cUExoaivT0dCkmJCQE7u7usLa2lmKOHDmisf2QkBB4e3sDeHNaxMHBQSMmMTER4eHhUgwVDH19fQwePBhhYWH46aefEBkZiVevXiEyMhI//fQTwsLCMGjQIM5nQ0RE2SukzszZSkpKEhcuXBAXLlwQAMS8efPEhQsXxL1797KNf3tUlBBCtGzZUtSuXVuEh4eLf/75R1SqVEkEBARI7fHx8cLe3l707NlTREZGik2bNgkTExPx66+/SjEnT54UBgYGYs6cOeL69eti4sSJwtDQUFy5ckWKmTVrlrCyshI7d+4Uly9fFu3atRNubm7i9evXWj9fbXt0kxDHjx8XnTt3Fj4+PtKtS5cu4vjx40WdGhERFQFtf0OLtLA5duyYAJDl1rt372zjsyts4uLiREBAgDAzMxMWFhaib9++IikpSSPm0qVLonHjxkKhUAhnZ2cxa9asLOvesmWLqFy5spDL5cLDw0Ps3btXo12lUonx48cLe3t7oVAoRPPmzUVUVFS+ni8Lm/zJyMgQ58+fFyEhIeL8+fMc4k1EVIJp+xsqE0KIojpaVNIkJibC0tISCQkJsLCwKOp0iIiIPhra/oYW2z42RERERPnFwoaIiIh0BgsbIiIi0hksbIiIiEhnsLAhIiIincHChoiIiHQGCxsiIiLSGSxsiIiISGewsCEiIiKdwcKGiIiIdAYLGyIiItIZLGyIiIhIZ7CwISIiIp3BwoaIiIh0BgsbIiIi0hksbIiIiEhnsLAhIiIincHChoiIiHQGCxsiIiLSGSxsiIiISGewsCEiIiKdwcKGiIiIdAYLGyIiItIZLGyIiIhIZ7CwISIiIp3BwoaIiIh0BgsbIiIi0hksbIiIiEhnsLAhIiIinVGkhU1oaCi++OILODk5QSaTYceOHVJbeno6Ro0ahRo1asDU1BROTk7o1asXHj16pLGO58+fo0ePHrCwsICVlRUCAwORnJysEXP58mX4+PjAyMgILi4uCAoKypLL1q1bUaVKFRgZGaFGjRrYt2+fRrsQAhMmTICjoyOMjY3h5+eHmzdvFtyLQURERO+tSAubly9fwtPTE0uWLMnS9urVK5w/fx7jx4/H+fPn8ddffyEqKgpt27bViOvRoweuXr2KkJAQ7NmzB6GhoRgwYIDUnpiYiBYtWsDV1RURERGYPXs2Jk2ahBUrVkgxp06dQkBAAAIDA3HhwgW0b98e7du3R2RkpBQTFBSERYsWYfny5QgPD4epqSn8/f2RkpLyAV4ZIiIieieimAAgtm/fnmvMmTNnBABx7949IYQQ165dEwDE2bNnpZj9+/cLmUwmHj58KIQQYunSpcLa2lqkpqZKMaNGjRLu7u7S/S5duojWrVtrbMvLy0v873//E0IIoVKphIODg5g9e7bUHh8fLxQKhdi4cWOO+aakpIiEhATp9uDBAwFAJCQk5PFqEBERUWYJCQla/YZ+VH1sEhISIJPJYGVlBQAICwuDlZUV6tWrJ8X4+flBT08P4eHhUkyTJk0gl8ulGH9/f0RFReHFixdSjJ+fn8a2/P39ERYWBgCIjo5GTEyMRoylpSW8vLykmOzMnDkTlpaW0s3FxeX9XgAiIiLK1UdT2KSkpGDUqFEICAiAhYUFACAmJgZ2dnYacQYGBrCxsUFMTIwUY29vrxGjvp9XTOb2zI/LLiY7Y8aMQUJCgnR78OBBvp4zERER5Y9BUSegjfT0dHTp0gVCCCxbtqyo09GaQqGAQqEo6jSIiIhKjGJ/xEZd1Ny7dw8hISHS0RoAcHBwwJMnTzTiMzIy8Pz5czg4OEgxsbGxGjHq+3nFZG7P/LjsYoiIiKjoFevCRl3U3Lx5E4cPH4atra1Gu7e3N+Lj4xERESEtO3r0KFQqFby8vKSY0NBQpKenSzEhISFwd3eHtbW1FHPkyBGNdYeEhMDb2xsA4ObmBgcHB42YxMREhIeHSzFERERU9Iq0sElOTsbFixdx8eJFAG866V68eBH3799Heno6OnXqhHPnzmH9+vVQKpWIiYlBTEwM0tLSAABVq1ZFy5Yt0b9/f5w5cwYnT57EkCFD0K1bNzg5OQEAunfvDrlcjsDAQFy9ehWbN2/GwoULMWLECCmPYcOG4cCBA5g7dy5u3LiBSZMm4dy5cxgyZAgAQCaTYfjw4Zg2bRp27dqFK1euoFevXnByckL79u0L9TUjIiKiXBTOIK3sHTt2TADIcuvdu7eIjo7Otg2AOHbsmLSOuLg4ERAQIMzMzISFhYXo27evSEpK0tjOpUuXROPGjYVCoRDOzs5i1qxZWXLZsmWLqFy5spDL5cLDw0Ps3btXo12lUonx48cLe3t7oVAoRPPmzUVUVFS+nq+2Q9WIiIhIk7a/oTIhhCiSiqoESkxMhKWlJRISEjT6ChEREVHutP0NLdZ9bIiIiIjyg4UNERER6QwWNkRERKQzWNgQERGRzmBhQ0RERDqDhQ0RERHpDBY2REREpDNY2BAREZHOYGFDREREOoOFDREREekMFjZERESkM1jYEBERkc5gYUNEREQ6g4UNERER6QwWNkRERKQzWNgQERGRzmBhQ0RERDqDhQ0RERHpDBY2REREpDNY2BAREZHOYGFDREREOoOFDREREekMFjZERESkM1jYEBERkc5gYUNEREQ6g4UNERER6QwWNkRERKQzWNgQERGRzmBhQ0RERDqjSAub0NBQfPHFF3BycoJMJsOOHTs02oUQmDBhAhwdHWFsbAw/Pz/cvHlTI+b58+fo0aMHLCwsYGVlhcDAQCQnJ2vEXL58GT4+PjAyMoKLiwuCgoKy5LJ161ZUqVIFRkZGqFGjBvbt25fvXIiIiKhoFWlh8/LlS3h6emLJkiXZtgcFBWHRokVYvnw5wsPDYWpqCn9/f6SkpEgxPXr0wNWrVxESEoI9e/YgNDQUAwYMkNoTExPRokULuLq6IiIiArNnz8akSZOwYsUKKebUqVMICAhAYGAgLly4gPbt26N9+/aIjIzMVy5ERERUxEQxAUBs375duq9SqYSDg4OYPXu2tCw+Pl4oFAqxceNGIYQQ165dEwDE2bNnpZj9+/cLmUwmHj58KIQQYunSpcLa2lqkpqZKMaNGjRLu7u7S/S5duojWrVtr5OPl5SX+97//aZ1LdlJSUkRCQoJ0e/DggQAgEhIS8vPSEBERlXgJCQla/YYW2z420dHRiImJgZ+fn7TM0tISXl5eCAsLAwCEhYXBysoK9erVk2L8/Pygp6eH8PBwKaZJkyaQy+VSjL+/P6KiovDixQspJvN21DHq7WiTS3ZmzpwJS0tL6ebi4vKuLwcRERFpodgWNjExMQAAe3t7jeX29vZSW0xMDOzs7DTaDQwMYGNjoxGT3ToybyOnmMzteeWSnTFjxiAhIUG6PXjwII9nTURERO/DoKgT0GUKhQIKhaKo0yAiIioxiu0RGwcHBwBAbGysxvLY2FipzcHBAU+ePNFoz8jIwPPnzzVisltH5m3kFJO5Pa9ciIiIqOgV28LGzc0NDg4OOHLkiLQsMTER4eHh8Pb2BgB4e3sjPj4eERERUszRo0ehUqng5eUlxYSGhiI9PV2KCQkJgbu7O6ytraWYzNtRx6i3o00uREREVAwUUmfmbCUlJYkLFy6ICxcuCABi3rx54sKFC+LevXtCCCFmzZolrKysxM6dO8Xly5dFu3bthJubm3j9+rW0jpYtW4ratWuL8PBw8c8//4hKlSqJgIAAqT0+Pl7Y29uLnj17isjISLFp0yZhYmIifv31Vynm5MmTwsDAQMyZM0dcv35dTJw4URgaGoorV65IMdrkkhdte3QTERGRJm1/Q4u0sDl27JgAkOXWu3dvIcSbYdbjx48X9vb2QqFQiObNm4uoqCiNdcTFxYmAgABhZmYmLCwsRN++fUVSUpJGzKVLl0Tjxo2FQqEQzs7OYtasWVly2bJli6hcubKQy+XCw8ND7N27V6Ndm1zywsKGiIjo3Wj7GyoTQoiiOlpU0iQmJsLS0hIJCQmwsLAo6nSIiIg+Gtr+hhbbPjZERERE+cXChoiIiHQGCxsiIiLSGSxsiIiISGewsCEiIiKdwcKGiIiIdAYLGyIiItIZLGyIiIhIZ7CwISIiIp3BwoaIiIh0xnsVNikpKQWVBxEREdF7y3dho1KpMHXqVDg7O8PMzAx37twBAIwfPx6//fZbgSdIREREpK18FzbTpk1DcHAwgoKCIJfLpeXVq1fHqlWrCjQ5IiIiovzId2Hzxx9/YMWKFejRowf09fWl5Z6enrhx40aBJkdERESUH/kubB4+fIiKFStmWa5SqZCenl4gSRERERG9i3wXNtWqVcPff/+dZfm2bdtQu3btAkmKiIiI6F0Y5PcBEyZMQO/evfHw4UOoVCr89ddfiIqKwh9//IE9e/Z8iByJiIiItJLvIzbt2rXD7t27cfjwYZiammLChAm4fv06du/ejc8+++xD5EgllFKpxIULF3D48GFcuHABSqWyqFMiIqJiTiaEEEWdREmRmJgIS0tLJCQkwMLCoqjTKdZOnDiBJUuWICYmRlrm4OCAwYMHw9fXtwgzIyKioqDtbyhnHqZi58SJE5gwYQLKly+PZcuW4cCBA1i2bBnKly+PCRMm4MSJE0WdIhERFVP5PmKjp6cHmUyWYztPF+SMR2zyplQqERAQgPLly2PGjBnQ0/v/2lulUuGnn35CdHQ0NmzYoDHdABER6TZtf0Pz3Xl4+/btGvfT09Nx4cIFrFmzBpMnT85/pkSZXL58GTExMZg4caJGUQO8Kaq/+uorDBo0CJcvX+YoPCIiyiLfhU27du2yLOvUqRM8PDywefNmBAYGFkhiVDLFxcUBANzc3LJtL1++vEYcERFRZgXWx6ZBgwY4cuRIQa2OSihbW1sAQHR0dLbt6muTqeOIiIgyK5DC5vXr11i0aBGcnZ0LYnVUgtWsWRMODg5Yu3YtVCqVRptKpcK6devg6OiImjVrFlGGRERUnOX7VJS1tbVG52EhBJKSkmBiYoJ169YVaHJU8ujr62Pw4MGYMGECfvrpJ3z11VcoX7487ty5g3Xr1iEsLAxTpkxhx2EiIspWvkdFBQcHaxQ2enp6KF26NLy8vGBtbV3gCeoSjorSXnbz2Dg6OmLQoEGcx4aIqATS9jeUE/QVIhY2+ZOWloYdO3bg0aNHcHJyQvv27SGXy4s6LSIiKgIFOtz78uXLWm+YfR+oIGR3xGbbtm2ceZiIiHKlVefhWrVqoXbt2qhVq1aut4KeV0SpVGL8+PFwc3ODsbExKlSogKlTpyLzQSYhBCZMmABHR0cYGxvDz88PN2/e1FjP8+fP0aNHD1hYWMDKygqBgYFITk7WiLl8+TJ8fHxgZGQEFxcXBAUFZcln69atqFKlCoyMjFCjRg3s27evQJ8vvcGZh4mI6J0JLdy9e1frW0GaPn26sLW1FXv27BHR0dFi69atwszMTCxcuFCKmTVrlrC0tBQ7duwQly5dEm3bthVubm7i9evXUkzLli2Fp6enOH36tPj7779FxYoVRUBAgNSekJAg7O3tRY8ePURkZKTYuHGjMDY2Fr/++qsUc/LkSaGvry+CgoLEtWvXxLhx44ShoaG4cuWK1s8nISFBABAJCQnv+croroyMDNG5c2cxatQooVQqNdqUSqUYNWqU6NKli8jIyCiiDImIqCho+xuqVWFTVFq3bi2+/vprjWUdOnQQPXr0EEIIoVKphIODg5g9e7bUHh8fLxQKhdi4caMQQohr164JAOLs2bNSzP79+4VMJhMPHz4UQgixdOlSYW1tLVJTU6WYUaNGCXd3d+l+ly5dROvWrTVy8fLyEv/73/9yzD8lJUUkJCRItwcPHrCwycP58+eFj4+PiIyMzLb9ypUrwsfHR5w/f76QMyMioqKkbWHzzvPYXLt2DQcOHMCuXbs0bgWpYcOGOHLkCP79918AwKVLl/DPP/+gVatWAN5M4hYTEwM/Pz/pMZaWlvDy8kJYWBgAICwsDFZWVqhXr54U4+fnBz09PYSHh0sxTZo00eiY6u/vj6ioKLx48UKKybwddYx6O9mZOXMmLC0tpZuLi8v7vBwlAmceJiKi95HveWzu3LmDL7/8EleuXIFMJpP6u6iHgBfkRTBHjx6NxMREVKlSBfr6+lAqlZg+fTp69OgBAFLHUnt7e43H2dvbS20xMTGws7PTaDcwMICNjY1GzNs/pOp1xsTEwNraGjExMbluJztjxozBiBEjpPuJiYksbvKQeeZhDw+PLO2ceZiIiHKT7yM2w4YNg5ubG548eQITExNcvXoVoaGhqFevHo4fP16gyW3ZsgXr16/Hhg0bcP78eaxZswZz5szBmjVrCnQ7H4pCoYCFhYXGjXLHmYeJiOh95PuITVhYGI4ePYpSpUpBT08Penp6aNy4MWbOnImhQ4fiwoULBZbcyJEjMXr0aHTr1g0AUKNGDdy7dw8zZ85E79694eDgAACIjY2Fo6Oj9LjY2FjUqlULAODg4IAnT55orDcjIwPPnz+XHu/g4IDY2FiNGPX9vGLU7VQwMs88PGbMGHh5eUGhUCA1NRXh4eE4ffo0Zx4mIqIc5fuIjVKphLm5OQCgVKlSePToEQDA1dUVUVFRBZrcq1evoKenmaK+vr70l7ybmxscHBw0Lr6ZmJiI8PBweHt7AwC8vb0RHx+PiIgIKebo0aNQqVTw8vKSYkJDQ5Geni7FhISEwN3dXZpN2dvbO8tFPkNCQqTtUMHx9fVF165dcebMGSxYsAA///wzFixYgDNnzqBr166cx4aIiHKU7yM21atXx6VLl+Dm5gYvLy8EBQVBLpdjxYoVUsfOgvLFF19g+vTpKFu2LDw8PHDhwgXMmzcPX3/9NYA3/XqGDx+OadOmoVKlSnBzc8P48eOlWWoBoGrVqmjZsiX69++P5cuXIz09HUOGDEG3bt3g5OQEAOjevTsmT56MwMBAjBo1CpGRkVi4cCHmz58v5TJs2DD4+vpi7ty5aN26NTZt2oRz585hxYoVBfqc6c08Nps3b0aDBg3g7OyMtLQ0yOVyPHz4EJs3b4aHhweLGyIiyl5+h1sdOHBA/Pnnn0IIIW7evCnc3d2FTCYTpUqVEkeOHHmnIVw5SUxMFMOGDRNly5YVRkZGonz58mLs2LEaw7JVKpUYP368sLe3FwqFQjRv3lxERUVprCcuLk4EBAQIMzMzYWFhIfr27SuSkpI0Yi5duiQaN24sFAqFcHZ2FrNmzcqSz5YtW0TlypWFXC4XHh4eYu/evfl6PpzHJm/qeWz69esnOnXqJHx8fKRbp06dRL9+/TiPDRFRCaTtb6jW14qqV68e+vXrh+7du2fpBPv8+fMsV/2mrHitqLxduHABw4YNA/BmuH/Pnj3h5uaG6OhorF27FqdOnQIALFy4sMBnuiYiouJL299QrfvYeHp64scff4SjoyN69eqlMQLKxsaGRQ0ViKdPnwIAvLy8MGPGDHh4eMDExAQeHh6YMWOG1C9KHUdERJSZ1oXNb7/9hpiYGCxZsgT3799H8+bNUbFiRcyYMQMPHz78kDlSCRIfHw8AaNKkSZaO43p6evDx8dGIIyIiyixfo6JMTEzQp08fHD9+HP/++y+6deuGX3/9FeXKlUPr1q3x119/fag8qYSwsrICAISGhmY7j83ff/+tEUdERJTZO19SoUKFCpg2bRru3r2LjRs34vTp0+jcuXNB5kYlUOnSpQEAZ86cwU8//YTIyEi8evUKkZGR+Omnn3DmzBmNOCIioszyPdw7s+PHj2P16tX4888/YWBggP79+xdUXlRCqWcetrS0xJ07dzBo0CCpzdHREZUrV0ZiYiJnHiYiomzlu7D577//EBwcjODgYNy5cwc+Pj5YunQpOnfuDGNj4w+RI5UgmWcebtCgAbp168aZh4mISGtaD/fesmULfv/9dxw5cgR2dnbo3bs3vv76a1SsWPFD56gzONxbeydOnMCSJUs0LjLq6OiIQYMGcXI+IqISSNvfUK2P2Hz11Vdo3bo1tm/fjs8//zzLiBWigvb2leIzMjKKKBMiIvpYaH3E5smTJ7Czs/vQ+eg0HrHRzokTJzB+/Pgc26dOncqjNkREJUyBT9DHooYKg1KpxMyZMwEg23lsAGDmzJlZjuYQEREB7zHcm+hDOH/+PF69egUAqF+/PpYtW4YDBw5g2bJlqF+/PoA3V30/f/58UaZJRETFFAsbKlb2798PAChXrhxmzZqlcUmFWbNmoVy5chpxREREmbGwoWIlNjYWANCqVatsT0W1bNlSI46IiCgzFjZUrNjb2wN4c0Qmu0sqHDhwQCOOiIgoM62Ge1tbW2t99e7nz5+/V0JUsrVq1QqHDx/G3bt3MXr0aPTq1Qvly5fHnTt38Mcff+Du3btSHBER0du0KmwWLFgg/T8uLg7Tpk2Dv78/vL29AQBhYWE4ePBgrkN0ibRRp04dmJiY4NWrV9JMw2rqU1MmJiaoU6dOUaVIRETFmNbz2Kh17NgRzZo1w5AhQzSWL168GIcPH8aOHTsKMj+dwnlstMN5bIiI6G3a/obmu7AxMzPDxYsXs1xK4datW6hVqxaSk5PfLeMSgIWN9k6cOIFffvkFT548kZbZ2dnh22+/ZVFDRFQCFfgEfWq2trbYuXNnluU7d+6Era1tfldHlK2rV6/i2bNnGsuePXuGq1evFlFGRET0Mcj31b0nT56Mfv364fjx4/Dy8gIAhIeH48CBA1i5cmWBJ0glz9KlS7Fp0yZYW1ujX79+aNiwIU6dOoVVq1Zh06ZNAIBBgwYVcZZERFQc5ftUFPCmkFm0aBGuX78OAKhatSqGDh0qFTqUPZ6KyltaWhr8/f1hYWGBP//8EwYG/197Z2RkoGPHjkhMTMTBgwchl8uLMFMiIipMBX5178y8vLywfv36d06OKCc7duyAUqlEv379NIoaADAwMEBgYCDmzJmDHTt2oEuXLkWUJRERFVfvNEHf7du3MW7cOHTv3l3q3Ll//372f6D39ujRIwBAw4YNs21XL1fHERERZZbvwubEiROoUaMGwsPD8eeff0qjoC5duoSJEycWeIJUsjg5OQEATp06lW27erk6joiIKLN8FzajR4/GtGnTEBISotHH4dNPP9WYTI3oXbRv3x76+vpYtWoVMjIyNNoyMjLw22+/QV9fH+3bty+aBImIqFjLd2Fz5coVfPnll1mW29nZZRmeS5RfcrkcnTt3xosXL9CxY0fs2rULz549w65du9CxY0e8ePECnTt3ZsdhIiLKVr47D1tZWeHx48dwc3PTWH7hwgU4OzsXWGJUcqmHcm/duhVz5syRluvr66Nbt24c6k1ERDnKd2HTrVs3jBo1Clu3boVMJoNKpcLJkyfxww8/oFevXh8iRyqBBg0ahL59+2LZsmV4+PAhnJ2dMXDgQBgbGxd1akREVIzlex6btLQ0DB48GMHBwVAqlTAwMIBSqUT37t0RHBwMfX39D5XrR4/z2GjvxIkTWLRoEZ4+fSotK126NIYOHcpLKhARlUAf7JIKcrkcK1euxO3bt7Fnzx6sW7cON27cwNq1az9IUfPw4UN89dVXsLW1hbGxMWrUqIFz585J7UIITJgwAY6OjjA2Noafnx9u3rypsY7nz5+jR48esLCwgJWVFQIDA7Nc0+ry5cvw8fGBkZERXFxcEBQUlCWXrVu3okqVKjAyMkKNGjWwb9++An++9P8Xwcxc1ADA06dPMX78eJw4caKIMiMiouLuneaxAYCyZcvi888/R5cuXVCpUqWCzEny4sULNGrUCIaGhti/fz+uXbuGuXPnwtraWooJCgrCokWLsHz5coSHh8PU1BT+/v5ISUmRYnr06IGrV68iJCQEe/bsQWhoKAYMGCC1JyYmokWLFnB1dUVERARmz56NSZMmYcWKFVLMqVOnEBAQgMDAQFy4cAHt27dH+/btERkZ+UGee0mlVCoxdepUAIChoSF69OiBDRs2oEePHjA0NATw5ureSqWyKNMkIqJiSqtTUSNGjNB6hfPmzXuvhDIbPXo0Tp48ib///jvbdiEEnJyc8P333+OHH34AACQkJMDe3h7BwcHo1q0brl+/jmrVquHs2bOoV68eAODAgQP4/PPP8d9//8HJyQnLli3D2LFjERMTI422GT16NHbs2IEbN24AALp27YqXL19iz5490vYbNGiAWrVqYfny5dnml5qaitTUVOl+YmIiXFxceCoqF+Hh4Rg5ciT09fWzXDZBfbkFpVKJ2bNn8xIeREQlSIGeirpw4YJWt4sXLxZU/gCAXbt2oV69eujcuTPs7OxQu3ZtjQttRkdHIyYmBn5+ftIyS0tLeHl5ISwsDAAQFhYGKysrqagBAD8/P+jp6SE8PFyKadKkicaPqL+/P6KiovDixQspJvN21DHq7WRn5syZsLS0lG4uLi7v8WqUDJs3bwYAdOzYMcuQbrlcjg4dOmjEERERZabVqKhjx4596DyydefOHSxbtgwjRozATz/9hLNnz2Lo0KGQy+Xo3bs3YmJiAAD29vYaj7O3t5faYmJiYGdnp9FuYGAAGxsbjZi3h6+r1xkTEwNra2vExMTkup3sjBkzRuNol/qIDeUsKSkJAODh4ZFte7Vq1TTiiIiIMnuni2AWFpVKhXr16mHGjBkAgNq1ayMyMhLLly9H7969izi7vCkUCigUiqJO46NStWpVREVFYcWKFWjcuDEiIyMRFxcHW1tbVK9eXTpiV7Vq1SLOlIiIiqN3KmzOnTuHLVu24P79+0hLS9No++uvvwokMQBwdHSU/kJXq1q1Kv78808AgIODAwAgNjYWjo6OUkxsbCxq1aolxagv1KmWkZGB58+fS493cHBAbGysRoz6fl4x6nYqGAMHDsSOHTvw8OFD+Pv7a1xWwcDAQLo/cODAokqRiIiKsXyPitq0aRMaNmyI69evY/v27UhPT8fVq1dx9OhRWFpaFmhyjRo1QlRUlMayf//9F66urgAANzc3ODg44MiRI1J7YmIiwsPD4e3tDQDw9vZGfHw8IiIipJijR49CpVJJnU+9vb0RGhqK9PR0KSYkJATu7u7SCCxvb2+N7ahj1NuhgmFsbIwqVaoAQLbXigKAKlWqcKI+IiLKVr4LmxkzZmD+/PnYvXs35HI5Fi5ciBs3bqBLly4oW7ZsgSb33Xff4fTp05gxYwZu3bqFDRs2YMWKFRg8eDAAQCaTYfjw4Zg2bRp27dqFK1euoFevXnBycpIukli1alW0bNkS/fv3x5kzZ3Dy5EkMGTIE3bp1k64Q3b17d8jlcgQGBuLq1avYvHkzFi5cqNE/ZtiwYThw4ADmzp2LGzduYNKkSTh37hyGDBlSoM+5pFMqlYiPj9cY0p+ZtbU1EhISONybiIiyJ/LJxMREREdHCyGEsLGxEZcvXxZCCHHt2jXh4OCQ39Xlaffu3aJ69epCoVCIKlWqiBUrVmi0q1QqMX78eGFvby8UCoVo3ry5iIqK0oiJi4sTAQEBwszMTFhYWIi+ffuKpKQkjZhLly6Jxo0bC4VCIZydncWsWbOy5LJlyxZRuXJlIZfLhYeHh9i7d2++nktCQoIAIBISEvL1uJLk/PnzwsfHR0RGRoqkpCQxevRo0bt3bzF69GiRlJQkrly5Inx8fMT58+eLOlUiIipE2v6G5ruPjbW1tTQixdnZGZGRkahRowbi4+Px6tWrAi67gDZt2qBNmzY5tstkMkyZMgVTpkzJMcbGxgYbNmzIdTs1a9bMcb4ctc6dO6Nz5865J0zvJS4uDsCbGacnT54sjTq7c+cOvv76a/Tr108jjoiIKLN8FzZNmjRBSEgIatSogc6dO2PYsGE4evQoQkJC0Lx58w+RI5Ugtra2AIDp06fD29sbEydOhJubG6Kjo7F27VpMnz5dI46IiCizfF8E8/nz50hJSYGTkxNUKhWCgoJw6tQpVKpUCePGjcuxbwTxIpjaUM8ubGFhgT///BMGBv9fe2dkZKBjx45ITEzMMisxERHpNm1/Q/N9xMbGxkb6v56eHkaPHv1uGRJl4+rVq1AqlXjx4gXGjRuH+vXrQ6FQIDU1FWfOnJFmgr569Spq165dxNkSEVFxk+/CZt++fdDX14e/v7/G8kOHDkGpVKJVq1YFlhyVPOq+Mx07dsSOHTtw6tQpqU1fXx8dO3bEn3/+yT42RESUrXwXNqNHj8asWbOyLFepVBg9ejQLG3ov6r4zf/75Jxo0aIAyZcogNTUVCoUC//33nzQ5I/vYEBFRdvJd2Ny8eTPLbMDAm0nTbt26VSBJUcnl4eEBfX19GBkZ4e7duzh9+rTU5uDgAFNTU6SkpOR4LSkiIirZ8l3YWFpa4s6dOyhXrpzG8lu3bsHU1LSg8qISSt3H5uXLl5DL5ejatSucnJzw6NEjHDp0CC9fvpTi2MeGiIjelu/Cpl27dhg+fDi2b9+OChUqAHhT1Hz//fdo27ZtgSdIJcvTp08BvLlOWGxsLDZv3iy16enpwdHREY8fP5biiIiIMsv3JRWCgoJgamqKKlWqwM3NDW5ubqhatSpsbW0xZ86cD5EjlSDx8fEAgMePH6Nu3bpwdHSEubk5HB0dUbduXTx+/FgjjoiIKLN3OhV16tQphISE4NKlSzA2NkbNmjXRpEmTD5EflTDquQlkMhnOnj0rLU9KSsLjx48hk8kghOA8QERElK18FzbAmx+dFi1aoEWLFgWdD5VwiYmJAAD1vJHVqlVDv379sGrVKly7dk1aro4jIiLKTOtTUWFhYdizZ4/Gsj/++ANubm6ws7PDgAEDkJqaWuAJUsmSeTZhGxsbXLt2DSNGjMC1a9c0hnhz1mEiIsqO1oXNlClTcPXqVen+lStXEBgYCD8/P4wePRq7d+/GzJkzP0iSVHL89ddf0v8rV66MJk2aoE6dOmjSpAkqVaqUbRwREZGa1qeiLl68iKlTp0r3N23aBC8vL6xcuRIA4OLigokTJ2LSpEkFniSVHOrh3Obm5hpz2KiZmZkhOTlZiiMiIspM68LmxYsXsLe3l+6fOHFCY5bhTz75BA8ePCjY7KjEsbe3x9OnT5GUlAQDAwP4+vqiatWquH79Ok6cOIHk5GQpjoiI6G1an4qyt7dHdHQ0gDdXYD5//jwaNGggtSclJcHQ0LDgM6QSZfLkydL/ra2tceTIESxevBhHjhzRuABr5jgiIiI1rQubzz//HKNHj8bff/+NMWPGwMTEBD4+PlL75cuXpQn7iN7VsWPHpP8/ffoULi4u8PHxgYuLC548eZJtHBERkZrWp6KmTp2KDh06wNfXF2ZmZlizZo3GyJTff/+dw7/pvT169AgAYGVlhfj4eDx48EDjFKelpSUSEhKkOCIiosy0LmxKlSqF0NBQJCQkwMzMDPr6+hrtW7duhZmZWYEnSCWLk5MTgDczC9etWxfR0dF49eoVTExM4ObmhoiICI04IiKizGRCPeMZfXCJiYnSEQfOnJu9169fw9/fH3p6b86SqlQqqS3zsoMHD8LY2LhIciQiosKn7W9ovq8VRfQh3bhxA8Cb4kUIgRYtWuC3335DixYtIISQCh11HBERUWbvdEkFog8lNjYWAKBQKJCeno5Dhw7h0KFDAAB9fX0YGBggNTVViiMiIsqMR2yoWLl27RoAoFOnTtizZw8aNWqE8uXLo1GjRti9ezc6duyoEUdERJQZj9hQsXT48GFs2rQJSqUSAHDnzh188cUXKFWqVBFnRkRExRmP2FCxUqZMGQBvTknp6emhR48e2LBhA3r06AE9PT3pFJQ6joiIKDOOiipEHBWVt+TkZHz++ecA3kwx8OzZM6mtdOnSePr0KQBg3759nF6AiKgE4ago+ijt27dP+r9SqUStWrXg6emJWrVqISMjI9s4IiIiNfaxoWJFPaNwxYoVcevWLbx48UKjXb2cMw8TEVF2WNhQsaKeUfjWrVuwsLBA6dKlkZGRAQMDAzx9+hS3bt3SiCMiIsrsozoVNWvWLMhkMgwfPlxalpKSgsGDB8PW1hZmZmbo2LFjljlO7t+/j9atW8PExAR2dnYYOXKkxmkNADh+/Djq1KkDhUKBihUrIjg4OMv2lyxZgnLlysHIyAheXl44c+bMh3iaJZq6fw3wpr/N7du3ce/ePdy+fRvJycnZxhEREal9NIXN2bNn8euvv6JmzZoay7/77jvs3r0bW7duxYkTJ/Do0SN06NBBalcqlWjdujXS0tJw6tQprFmzBsHBwZgwYYIUEx0djdatW6NZs2a4ePEihg8fjn79+uHgwYNSzObNmzFixAhMnDgR58+fh6enJ/z9/TWuOE3vL3PfGSEE6tWrhwEDBqBevXrI3M+dfWyIiCg7H8WoqOTkZNSpUwdLly7FtGnTUKtWLSxYsAAJCQkoXbo0NmzYgE6dOgF4M9V+1apVERYWhgYNGmD//v1o06YNHj16BHt7ewDA8uXLMWrUKDx9+hRyuRyjRo3C3r17ERkZKW2zW7duiI+Px4EDBwAAXl5e+OSTT7B48WIAb6b8d3FxwbfffovRo0dr9Tw4Kipvc+fOxc6dO2FgYJDlqBoAaXm7du3w/fffF0GGRERUFHRqVNTgwYPRunVr+Pn5aSyPiIhAenq6xvIqVaqgbNmyCAsLAwCEhYWhRo0aUlEDAP7+/khMTMTVq1elmLfX7e/vL60jLS0NERERGjF6enrw8/OTYrKTmpqKxMREjRvlTj28OyMjAw0aNECTJk1Qp04dNGnSBA0aNJCKnczDwImIiNSKfefhTZs24fz58zh79myWtpiYGMjlclhZWWkst7e3R0xMjBSTuahRt6vbcotJTEzE69ev8eLFCyiVymxjcrsY48yZMzF58mTtnigBAGxtbQG8KRzv3r0rvUcA4ODgAD09PahUKimOiIgos2J9xObBgwcYNmwY1q9fDyMjo6JOJ9/GjBmDhIQE6fbgwYOiTqnY09N7s0uqVCrExcWhe/fuWL9+Pbp37464uDjp6t7qOCIiosyK9RGbiIgIPHnyBHXq1JGWKZVKhIaGYvHixTh48CDS0tIQHx+vcdQmNjYWDg4OAN78lf/26CX1qKnMMW+PpIqNjYWFhQWMjY2hr68PfX39bGPU68iOQqGAQqHI/xMvwapUqQLgTeGSkZGBDRs2YMOGDQAAmUwmHbFRxxEREWVWrP/sbd68Oa5cuYKLFy9Kt3r16qFHjx7S/w0NDXHkyBHpMVFRUbh//z68vb0BAN7e3rhy5YrG6KWQkBBYWFigWrVqUkzmdahj1OuQy+WoW7euRoxKpcKRI0ekGCoY6iHdKpUKlpaWGjMPW1paSkdsMg/9JiIiUivWR2zMzc1RvXp1jWWmpqawtbWVlgcGBmLEiBGwsbGBhYUFvv32W3h7e6NBgwYAgBYtWqBatWro2bMngoKCEBMTg3HjxmHw4MHS0ZRvvvkGixcvxo8//oivv/4aR48exZYtW7B3715puyNGjEDv3r1Rr1491K9fHwsWLMDLly/Rt2/fQno1Sgb1kTcrKyvEx8fj4sWLWdrfPkJHRESkVqwLG23Mnz8fenp66NixI1JTU+Hv74+lS5dK7fr6+tizZw8GDhwIb29vmJqaonfv3pgyZYoU4+bmhr179+K7777DwoULUaZMGaxatQr+/v5STNeuXfH06VNMmDABMTExqFWrFg4cOJClQzG9n9KlSwMA4uPjYWlpCSEEUlNToVAoIJPJEB8frxFHRESU2Ucxj42u4Dw2eUtLS4O/vz9UKhWy2zXV/WwOHjwIuVxeBBkSEVFR0Kl5bKjkuHr1KpRKpVTU2Nvbo1GjRtKRMSEElEqlNAcRERFRZh/9qSjSLZmHxOvp6SE2NlYajaavrw+lUinF1a5du0hyJCKi4ouFDRUr27Ztk/5fv359lClTRupj899//+H06dNSXNu2bYsqTSIiKqZY2FCxoh7GbWRkhLt370qFDPBmviEjIyOkpKRwuDcREWWLhQ0VK2ZmZnj27BlSUlKQkpICT09Pqe3evXtISUmR4oiIiN7GwoaKlQ4dOmDevHkA3gz5Vg/vzi6OiIjobRwVRcVKWlqaxn1zc3PUrVsX5ubmucYREREBPGJDxYyJiYnG/aSkJEREROQZR0REBPCIDRUzJ0+elP5vamoqXcVbT08Ppqam2cYRERGp8YgNFSvqzsEA8PLlS+n/KpVK437mOCIiIjUesaFixcjISOO+XC6HpaVllssnvB1HREQEsLChYubt2YTT0tKQkJCQpbMwZx0mIqLssLChYmXr1q0a983NzVGxYsUso6LejiMiIgLYx4aKmVevXmncT0pKQlJSUp5xREREAAsbKmbS09Ol/+vr68PBwQEymQxCCMTExEgXwcwcR0REpMbChooVW1tbPHz4EACgVCql/2cXR0RE9Db2saFixdDQUOO+qakp3NzcNOawyS6OiIgIYGFDxYyHh4fG/ZcvXyI6OlpjDpvs4oiIiAAWNlTMaHskhkdsiIgoOyxsqFipXLlygcYREVHJwsKGipV///23QOOIiKhkYWFDxYq289NwHhsiIsoOCxsqVg4fPqxx39LSEtbW1rC0tMw1joiICOA8NlTMqFQqjfsJCQlaxREREQEsbKiYUc8yrGZiYgK5XI60tDSN008ymawo0iMiomKOp6KoWClbtqzG/VevXiE+Pj5Ln5q344iIiAAWNlTMaHskhkdsiIgoOyxsqFh5u5Pw+8YREVHJwsKGipWYmJgCjSMiopKlWBc2M2fOxCeffAJzc3PY2dmhffv2iIqK0ohJSUnB4MGDYWtrCzMzM3Ts2BGxsbEaMffv30fr1q1hYmICOzs7jBw5EhkZGRoxx48fR506daBQKFCxYkUEBwdnyWfJkiUoV64cjIyM4OXlhTNnzhT4cy7pDAy068+ubRwREZUsxbqwOXHiBAYPHozTp08jJCQE6enpaNGihcYFEb/77jvs3r0bW7duxYkTJ/Do0SN06NBBalcqlWjdujXS0tJw6tQprFmzBsHBwZgwYYIUEx0djdatW6NZs2a4ePEihg8fjn79+uHgwYNSzObNmzFixAhMnDgR58+fh6enJ/z9/fHkyZPCeTFKiIcPHxZoHBERlSwykXlsbTH39OlT2NnZ4cSJE2jSpAkSEhJQunRpbNiwAZ06dQIA3LhxA1WrVkVYWBgaNGiA/fv3o02bNnj06BHs7e0BAMuXL8eoUaPw9OlTyOVyjBo1Cnv37kVkZKS0rW7duiE+Ph4HDhwAAHh5eeGTTz7B4sWLAbyZR8XFxQXffvstRo8erVX+iYmJsLS0REJCAiwsLArypdEZTZo00To2NDT0A2ZCRETFiba/ocX6iM3b1JO12djYAAAiIiKQnp4OPz8/KaZKlSooW7YswsLCAABhYWGoUaOGVNQAgL+/PxITE3H16lUpJvM61DHqdaSlpSEiIkIjRk9PD35+flJMdlJTU5GYmKhxIyIiog/noylsVCoVhg8fjkaNGqF69eoA3nQglcvlsLKy0oi1t7eXOpfGxMRoFDXqdnVbbjGJiYl4/fo1nj17BqVSmW1Mbp1YZ86cCUtLS+nm4uKS/ydOREREWvtoCpvBgwcjMjISmzZtKupUtDZmzBgkJCRItwcPHhR1SkRERDrtoxhaMmTIEOzZswehoaEoU6aMtNzBwQFpaWmIj4/XOGoTGxsLBwcHKebt0UvqUVOZY94eSRUbGwsLCwsYGxtDX18f+vr62cao15EdhUIBhUKR/ydMRERE76RYH7ERQmDIkCHYvn07jh49Cjc3N432unXrwtDQEEeOHJGWRUVF4f79+/D29gYAeHt748qVKxqjl0JCQmBhYYFq1apJMZnXoY5Rr0Mul6Nu3boaMSqVCkeOHJFiqGBw5mEiInofxfqIzeDBg7Fhwwbs3LkT5ubmUn8WS0tLGBsbw9LSEoGBgRgxYgRsbGxgYWGBb7/9Ft7e3mjQoAEAoEWLFqhWrRp69uyJoKAgxMTEYNy4cRg8eLB0NOWbb77B4sWL8eOPP+Lrr7/G0aNHsWXLFuzdu1fKZcSIEejduzfq1auH+vXrY8GCBXj58iX69u1b+C+MDrO0tER8fLxWcURERG8r1oXNsmXLAABNmzbVWL569Wr06dMHADB//nzo6emhY8eOSE1Nhb+/P5YuXSrF6uvrY8+ePRg4cCC8vb1hamqK3r17Y8qUKVKMm5sb9u7di++++w4LFy5EmTJlsGrVKvj7+0sxXbt2xdOnTzFhwgTExMSgVq1aOHDgQJYOxfR+0tPTCzSOiIhKlo9qHpuPHeexyduXX36JuLi4PONsbW2xffv2QsiIiIiKA52cx4Z0nzZFTX7iiIioZGFhQ0RERDqDhQ0RERHpDBY2VKxoO+8P5wciIqLssLChYsXQ0LBA44iIqGRhYUPFilKpLNA4IiIqWVjYULHy+vXrAo0jIqKShYUNERER6QwWNkRERKQzWNgQERGRzmBhQ0RERDqDhQ0RERHpjGJ9dW8qHlJSUnDv3r2iTiOLqKioQtmOq6srjIyMCmVbRET0fljYUJ7u3buH/v37F3UaWRRWTitXroS7u3uhbIuIiN4PCxvKk6urK1auXFko28pPsVJYObm6uhbKdoiI6P2xsKE8GRkZFdoRizlz5uCHH37QKo5HUYiI6G3sPEzFSv369Qs0joiIShYWNlTshIaGvlc7ERGVXCxsqFgKDQ3FnDlzNJbNmTOHRQ0REeWKhQ0VW/Xr15c6CK9cuZKnn4iIKE8sbIiIiEhnsLAhIiIincHChoiIiHQG57H5iMTGxiI+Pr6o0yhU6ks5FMdLOnxoVlZWsLe3L+o0iIg+KjIhhCjqJEqKxMREWFpaIiEhARYWFvl6bGxsLHr0+AppaakfKDsqbuRyBdavX8fihogI2v+G8ojNRyI+Ph5paalIqdAUwtiqqNOhD0z2Oh64fRzx8fEsbIiI8oGFzUdGGFtBZVqqqNOgD4yd34iI3g2/P4mIiEhn8IjNR0b2Op7VaAkgex1f1CmUKGPHjsXff/8t3ffx8cH06dOLMCPSVXfu3MHXX38NlUoFPT09/P777yhfvnxRp6VTWNjk05IlSzB79mzExMTA09MTv/zyS6HOiGt0+3ihbYuoJGjSpEmWZX///TeaNGnCS3hQgXp7X1OpVOjTpw8AXgOvILGwyYfNmzdjxIgRWL58Oby8vLBgwQL4+/sjKioKdnZ2hZJDapm6EArzQtkWFR1ZahIU/0UUdRo6L7ui5u12/uBQQci8rxkaGqJnz55Yu3Yt0tPTpXbuawWDhU0+zJs3D/3790ffvn0BAMuXL8fevXvx+++/Y/To0R9021ZWVpDLFQB/7EoMuVwBKyurok5DZ40dO1b6f5cuXTBkyBDp/uLFi7FlyxYpjqel6H3cuXNH+v+mTZvg5OQEAOjTpw8ePXqEbt26SXE8LfX+WNhoKS0tDRERERgzZoy0TE9PD35+fggLC8v2MampqUhN/f95ZxITE995+/b29li/fl2RTNCXmpqKmJiYQt8uADx+/Bi//fYbAgMD4ejoWCQ5ODg4QKFQFPp2i3KCvn///Rd3794t9O2+evUKt2/fLpRtZe5Tk5qairlz5+YYl1NbQatQoQJMTEwKZVuZlStXDpUrVy707QIlY1/buXMnAEAmk2Hjxo1Z2mUyGYQQ6NOnD9q1a1coOenyvsYJ+rT06NEjODs749SpU/D29paW//jjjzhx4gTCw8OzPGbSpEmYPHlyluXvMkFfUYqKikL//v2LOo0is3LlSri7uxd1GoXq22+/xaVLl4o6DSok6v6CRYH7WsnyPvsaJ+grBsaMGYMRI0ZI9xMTE+Hi4lKEGb0bV1dXrFy5sqjTKDKurq5FnUKh+/bbb0vMX9EAsv0rOa/2D6Eo/4ouKiVpX5PJZGjbtm2W9l27dkF9jIH72vtjYaOlUqVKQV9fH7GxsRrLY2Nj4eDgkO1jFApFkZzCKGhGRkYl7ohFSVe5cuUiOzVRWJ4/fy6djlIoFFn62Kj5+Pjg+++/L/T8SoqSsK99+eWX6NOnD4QQCAgIkPrYAG/OBqgLn+DgYPaxKQA8FZUPXl5eqF+/vnQYTaVSoWzZshgyZIhWnYff51pRRFTw8hoVBXAYLhWMt0dFdevWDZs2bZJGRQHc1/Ki7W8o53rLhxEjRmDlypVYs2YNrl+/joEDB+Lly5fSKCki+rjk9UPCHxoqKJn3pfT0dI2h3m+30/thYZMPXbt2xZw5czBhwgTUqlULFy9exIEDB3iRQqKPWGhoKHx8fDSW+fj48IeGClxoaCiCg4Ohp/fmp1dPTw/BwcHc1woYT0UVIp6KIiIiejc8FUVEREQlDgsbIiIi0hksbIiIiEhnsLAhIiIincHChoiIiHQGCxsiIiLSGbykQiFSj6x/n6t8ExERlUTq3868ZqlhYVOIkpKSAOCjvBAmERFRcZCUlARLS8sc2zlBXyFSqVR49OgRzM3NIZPJijqdj4L6iugPHjzgpIb0QXFfo8LCfe3dCCGQlJQEJycnafbm7PCITSHS09NDmTJlijqNj5KFhQW/AKhQcF+jwsJ9Lf9yO1Kjxs7DREREpDNY2BAREZHOYGFDxZpCocDEiROhUCiKOhXScdzXqLBwX/uw2HmYiIiIdAaP2BAREZHOYGFDREREOoOFDREREekMFjZUYO7evQuZTIaLFy8WdSpE76RcuXJYsGBBUadBRO+BnYepwCiVSjx9+hSlSpWCgQHnfqTiKzg4GMOHD0d8fLzG8qdPn8LU1BQmJiZFkxgRvTf++lCBSEtLg1wuh4ODQ1GnQiWcel98F6VLly7gbIiKjhACSqWyxP2hyVNRlK2mTZtiyJAhGDJkCCwtLVGqVCmMHz9euqpquXLlMHXqVPTq1QsWFhYYMGBAtqeirl69ijZt2sDCwgLm5ubw8fHB7du3pfZVq1ahatWqMDIyQpUqVbB06VKt8lNv66+//kKzZs1gYmICT09PhIWFSTGTJk1CrVq1NB63YMEClCtXTrrfp08ftG/fHjNmzIC9vT2srKwwZcoUZGRkYOTIkbCxsUGZMmWwevXq/L+IVCjU++rw4cNRqlQp+Pv7Y968eahRowZMTU3h4uKCQYMGITk5GQBw/Phx9O3bFwkJCZDJZJDJZJg0aRKArKeiZDIZVq1ahS+//BImJiaoVKkSdu3apbH9Xbt2oVKlSjAyMkKzZs2wZs0ayGSyLEeDqHjI67vtxYsX6NWrF6ytrWFiYoJWrVrh5s2b0uODg4NhZWWFHTt2SO+7v78/Hjx4oNX2L126hGbNmsHc3BwWFhaoW7cuzp07J7WfPHkSTZs2hYmJCaytreHv748XL14AAFJTUzF06FDY2dnByMgIjRs3xtmzZ6XHHj9+HDKZDPv370fdunWhUCjwzz//QKVSYebMmXBzc4OxsTE8PT2xbdu2gng5iydBlA1fX19hZmYmhg0bJm7cuCHWrVsnTExMxIoVK4QQQri6ugoLCwsxZ84ccevWLXHr1i0RHR0tAIgLFy4IIYT477//hI2NjejQoYM4e/asiIqKEr///ru4ceOGEEKIdevWCUdHR/Hnn3+KO3fuiD///FPY2NiI4ODgPPNTb6tKlSpiz549IioqSnTq1Em4urqK9PR0IYQQEydOFJ6enhqPmz9/vnB1dZXu9+7dW5ibm4vBgweLGzduiN9++00AEP7+/mL69Oni33//FVOnThWGhobiwYMH7//CUoFT76sjR44UN27cEDdu3BDz588XR48eFdHR0eLIkSPC3d1dDBw4UAghRGpqqliwYIGwsLAQjx8/Fo8fPxZJSUlCiDf79fz586V1AxBlypQRGzZsEDdv3hRDhw4VZmZmIi4uTgghxJ07d4ShoaH44YcfxI0bN8TGjRuFs7OzACBevHhR2C8FaSGv77a2bduKqlWritDQUHHx4kXh7+8vKlasKNLS0oQQQqxevVoYGhqKevXqiVOnTolz586J+vXri4YNG2q1fQ8PD/HVV1+J69evi3///Vds2bJFXLx4UQghxIULF4RCoRADBw4UFy9eFJGRkeKXX34RT58+FUIIMXToUOHk5CT27dsnrl69Knr37i2sra2l/fHYsWMCgKhZs6Y4dOiQuHXrloiLixPTpk0TVapUEQcOHBC3b98Wq1evFgqFQhw/frygX95igYUNZcvX11dUrVpVqFQqadmoUaNE1apVhRBvfgDat2+v8Zi3C5sxY8YINzc36QvhbRUqVBAbNmzQWDZ16lTh7e2dZ37qba1atUpadvXqVQFAXL9+XQihfWHj6uoqlEqltMzd3V34+PhI9zMyMoSpqanYuHFjnnlR4fP19RW1a9fONWbr1q3C1tZWur969WphaWmZJS67wmbcuHHS/eTkZAFA7N+/Xwjx5jNRvXp1jXWMHTuWhU0xltt327///isAiJMnT0ptz549E8bGxmLLli1CiDf7DgBx+vRpKeb69esCgAgPD89z++bm5jn+8RYQECAaNWqUbVtycrIwNDQU69evl5alpaUJJycnERQUJIT4/8Jmx44dUkxKSoowMTERp06d0lhfYGCgCAgIyDPfjxFPRVGOGjRoAJlMJt339vbGzZs3oVQqAQD16tXL9fEXL16Ej48PDA0Ns7S9fPkSt2/fRmBgIMzMzKTbtGnTNE5V5aVmzZrS/x0dHQEAT5480frxAODh4QE9vf//KNjb26NGjRrSfX19fdja2uZ7vVR46tatq3H/8OHDaN68OZydnWFubo6ePXsiLi4Or169yve6M+9jpqamsLCwkPaFqKgofPLJJxrx9evXf4dnQIUpp++2a9euwcDAAF5eXlKbra0t3N3dcf36dWmZgYGBxvtepUoVWFlZacTkZMSIEejXrx/8/Pwwa9Ysje+7ixcvonnz5tk+7vbt20hPT0ejRo2kZYaGhqhfv36W7Wb+br516xZevXqFzz77TOO79o8//sjXd+3HpGT1KKICZWpqmmu7sbFxjm3q/g4rV67U+BIB3hQS2spcNKm/qFQqFQBAT09POm+ulp6enus61OvJbpl6vVT8ZN4X7969izZt2mDgwIGYPn06bGxs8M8//yAwMBBpaWn5HvHEfYEK0qRJk9C9e3fs3bsX+/fvx8SJE7Fp0yZ8+eWXuX5n5kfmz4P6u3bv3r1wdnbWiNPVa1XxiA3lKDw8XOP+6dOnUalSJa0Lj5o1a+Lvv//Otpiwt7eHk5MT7ty5g4oVK2rc3NzcCiT/0qVLIyYmRqO44Rw7ui8iIgIqlQpz585FgwYNULlyZTx69EgjRi6XS0ce34e7u7tGx08AGp05qXjK6butWrVqyMjI0GiPi4tDVFQUqlWrJi3LyMjQeN+joqIQHx+PqlWrarX9ypUr47vvvsOhQ4fQoUMHaXBCzZo1ceTIkWwfU6FCBcjlcpw8eVJalp6ejrNnz2rk9rZq1apBoVDg/v37Wb5rXVxctMr3Y8PChnJ0//59jBgxAlFRUdi4cSN++eUXDBs2TOvHDxkyBImJiejWrRvOnTuHmzdvYu3atYiKigIATJ48GTNnzsSiRYvw77//4sqVK1i9ejXmzZtXIPk3bdoUT58+RVBQEG7fvo0lS5Zg//79BbJuKr4qVqyI9PR0/PLLL7hz5w7Wrl2L5cuXa8SUK1cOycnJOHLkCJ49e/ZOp6gA4H//+x9u3LiBUaNG4d9//8WWLVsQHBwMABqnOqh4yem7rVKlSmjXrh369++Pf/75B5cuXcJXX30FZ2dntGvXTnq8oaEhvv32W4SHhyMiIgJ9+vRBgwYN8jwN+fr1awwZMgTHjx/HvXv3cPLkSZw9e1YqiMaMGYOzZ89i0KBBuHz5Mm7cuIFly5bh2bNnMDU1xcCBAzFy5EgcOHAA165dQ//+/fHq1SsEBgbmuE1zc3P88MMP+O6777BmzRrcvn0b58+fxy+//II1a9YUzAtazLCwoRz16tULr1+/Rv369TF48GAMGzYMAwYM0Prxtra2OHr0KJKTk+Hr64u6deti5cqV0qH9fv36YdWqVVi9ejVq1KgBX19fBAcHF9gRm6pVq2Lp0qVYsmQJPD09cebMGfzwww8Fsm4qvjw9PTFv3jz8/PPPqF69OtavX4+ZM2dqxDRs2BDffPMNunbtitKlSyMoKOidtuXm5oZt27bhr7/+Qs2aNbFs2TKMHTsWgO4e5tcFuX23rV69GnXr1kWbNm3g7e0NIQT27duncUrSxMQEo0aNQvfu3dGoUSOYmZlh8+bNeW5XX18fcXFx6NWrFypXrowuXbqgVatWmDx5MoA3R3IOHTqES5cuoX79+vD29sbOnTuleWhmzZqFjh07omfPnqhTpw5u3bqFgwcPwtraOtftTp06FePHj8fMmTNRtWpVtGzZEnv37i2w79rihjMPU7aaNm2KWrVqcXp5onyaPn06li9frvW8JlS43ve7LadZq6n4YOdhIqL3sHTpUnzyySewtbXFyZMnMXv2bAwZMqSo0yIqsXgqioqlGTNmaAxNzHxr1apVUadHJLl58ybatWuHatWqYerUqfj++++lmYyp5PHw8Mjxu2v9+vVFnV6JwFNRVCw9f/4cz58/z7bN2Ng4y7BFIqLi4N69e9mOBAXejAY1Nzcv5IxKHhY2REREpDN4KoqIiIh0BgsbIiIi0hksbIiIiEhnsLAhIiIincHChoiIiHQGCxsiKrb69OkDmUyW5Xbr1q33XndwcDCsrKzeP0kiKlY48zARFWstW7aUrn6sVrp06SLKJnvp6eka1xIioqLDIzZEVKwpFAo4ODho3PT19bFz507UqVMHRkZGKF++PCZPnoyMjAzpcfPmzUONGjVgamoKFxcXDBo0CMnJyQCA48ePo2/fvkhISJCOAqlnC5bJZNixY4dGDlZWVtJVu+/evQuZTIbNmzfD19cXRkZG0oyyq1atQtWqVWFkZIQqVapg6dKl0jrS0tIwZMgQODo6wsjICK6urlkuzklE749HbIjoo/P333+jV69eWLRoEXx8fHD79m3p6swTJ04EAOjp6WHRokVwc3PDnTt3MGjQIPz4449YunQpGjZsiAULFmDChAmIiooCAJiZmeUrh9GjR2Pu3LmoXbu2VNxMmDABixcvRu3atXHhwgX0798fpqam6N27NxYtWoRdu3Zhy5YtKFu2LB48eMALZRJ9ACxsiKhY27Nnj0bR0apVK7x48QKjR49G7969AQDly5fH1KlT8eOPP0qFzfDhw6XHlCtXDtOmTcM333yDpUuXQi6Xw9LSEjKZDA4ODu+U1/Dhw9GhQwfp/sSJEzF37lxpmZubG65du4Zff/0VvXv3xv3791GpUiU0btwYMpkMrq6u77RdIsodCxsiKtaaNWuGZcuWSfdNTU1Rs2ZNnDx5EtOnT5eWK5VKpKSk4NWrVzAxMcHhw4cxc+ZM3LhxA4mJicjIyNBof1/16tWT/v/y5Uvcvn0bgYGB6N+/v7Q8IyMDlpaWAN50hP7ss8/g7u6Oli1bok2bNmjRosV750FEmljYEFGxZmpqiooVK2osS05OxuTJkzWOmKgZGRnh7t27aNOmDQYOHIjp06fDxsYG//zzDwIDA5GWlpZrYSOTyfD2JfSyu6ihqampRj4AsHLlSnh5eWnE6evrAwDq1KmD6Oho7N+/H4cPH0aXLl3g5+eHbdu25fEKEFF+sLAhoo9OnTp1EBUVlaXgUYuIiIBKpcLcuXOhp/dmjMSWLVs0YuRyOZRKZZbHli5dGo8fP5bu37x5E69evco1H3t7ezg5OeHOnTvo0aNHjnEWFhbo2rUrunbtik6dOqFly5Z4/vw5bGxscl0/EWmPhQ0RfXQmTJiANm3aoGzZsujUqRP09PRw6dIlREZGYtq0aahYsSLS09Pxyy+/4IsvvsDJkyexfPlyjXWUK1cOycnJOHLkCDw9PWFiYgITExN8+umnWLx4Mby9vaFUKjFq1CithnJPnjwZQ4cOhaWlJVq2bInU1FScO3cOL168wIgRIzBv3jw4Ojqidu3a0NPTw9atW+Hg4MC5dIgKGId7E9FHx9/fH3v27MGhQ4fwySefoEGDBpg/f77UIdfT0xPz5s3Dzz//jOrVq2P9+vVZhlY3bNgQ33zzDbp27YrSpUsjKCgIADB37ly4uLjAx8cH3bt3xw8//KBVn5x+/fph1apVWL16NWrUqAFfX18EBwfDzc0NAGBubo6goCDUq1cPn3zyCe7evYt9+/ZJR5SIqGDIxNsnk4mIiIg+UvxTgYiIiHQGCxsiIiLSGSxsiIiISGewsCEiIiKdwcKGiIiIdAYLGyIiItIZLGyIiIhIZ7CwISIiIp3BwoaIiIh0BgsbIiIi0hksbIiIiEhn/B9zVDaSOp4R+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4" name="AutoShape 8" descr="data:image/png;base64,iVBORw0KGgoAAAANSUhEUgAAAjYAAAGJCAYAAACZwnkIAAAAOnRFWHRTb2Z0d2FyZQBNYXRwbG90bGliIHZlcnNpb24zLjEwLjAsIGh0dHBzOi8vbWF0cGxvdGxpYi5vcmcvlHJYcgAAAAlwSFlzAAAPYQAAD2EBqD+naQAAalZJREFUeJzt3Xl4TNf/B/D3ZJnJvpJVRGxBEFtFEKFSoRS1h9oafGspqlXUvmvsaitaUfvS2tdY0xJBrLGklliKBCEbss2c3x+eub+MbBMiicn79TzzMPd85t7PzNyZ+eTec86VCSEEiIiIiHSAXlEnQERERFRQWNgQERGRzmBhQ0RERDqDhQ0RERHpDBY2REREpDNY2BAREZHOYGFDREREOoOFDREREekMFjZERESkM1jYUL5MmjQJMpmsULbVtGlTNG3aVLp//PhxyGQybNu2rVC236dPH5QrV65QtvWukpOT0a9fPzg4OEAmk2H48OFFnZKGu3fvQiaTITg4uMDWGRwcDJlMhrt37xbYOj9GH+K1pfwLCgpClSpVoFKpijqVAtOgQQP8+OOPRZ3GO2NhU4KpfyDUNyMjIzg5OcHf3x+LFi1CUlJSgWzn0aNHmDRpEi5evFgg6ytIxTk3bcyYMQPBwcEYOHAg1q5di549e+YYm5aWhoULF6J27dqwsLCAlZUVPDw8MGDAANy4caMQsy4c6iLc3t4er169ytJerlw5tGnTpggyK37URVJ2twYNGnyQbX7snz0ASExMxM8//4xRo0ZBT0/z53TXrl2oU6cOjIyMULZsWUycOBEZGRl5rvPatWuYNGlSgRfuycnJmDhxIlq2bAkbG5tci+JRo0ZhyZIliImJKdAcCotBUSdARW/KlClwc3NDeno6YmJicPz4cQwfPhzz5s3Drl27ULNmTSl23LhxGD16dL7W/+jRI0yePBnlypVDrVq1tH7coUOH8rWdd5FbbitXriz2f4UdPXoUDRo0wMSJE/OM7dixI/bv34+AgAD0798f6enpuHHjBvbs2YOGDRuiSpUqhZBx4Xvy5AmWLVuG77//vqhTKVCurq54/fo1DA0NC2ydAQEB+PzzzzWWlS5dusDWn9m7fi8UJ7///jsyMjIQEBCgsXz//v1o3749mjZtil9++QVXrlzBtGnTpH0xN9euXcPkyZPRtGnTAj1i/OzZM0yZMgVly5aFp6cnjh8/nmNsu3btYGFhgaVLl2LKlCkFlkNhYWFDaNWqFerVqyfdHzNmDI4ePYo2bdqgbdu2uH79OoyNjQEABgYGMDD4sLvNq1evYGJiArlc/kG3k5eC/MH4UJ48eYJq1arlGXf27Fns2bMH06dPx08//aTRtnjxYsTHx3+gDIterVq1MHv2bAwaNEjajz9mGRkZUKlUkMvlMDIyKtB116lTB1999VWBrrOwpaSkQC6XZzmC8iGsXr0abdu2zfI+/PDDD6hZsyYOHTokfV9aWFhgxowZGDZsWJH8EeHo6IjHjx/DwcEB586dwyeffJJjrJ6eHjp16oQ//vgDkydPLrTuBwWFp6IoW59++inGjx+Pe/fuYd26ddLy7PrYhISEoHHjxrCysoKZmRnc3d2lH8/jx49LH6C+fftKh7fVh0CbNm2K6tWrIyIiAk2aNIGJiYn02Lf72KgplUr89NNPcHBwgKmpKdq2bYsHDx5oxJQrVw59+vTJ8tjM68wrt+z62Lx8+RLff/89XFxcoFAo4O7ujjlz5kAIoREnk8kwZMgQ7NixA9WrV4dCoYCHhwcOHDiQ/Qv+lidPniAwMBD29vYwMjKCp6cn1qxZI7Wr+xtFR0dj7969Uu45Hb6+ffs2AKBRo0ZZ2vT19WFra6ux7OHDhwgMDISTkxMUCgXc3NwwcOBApKWlAQCeP3+OH374ATVq1ICZmRksLCzQqlUrXLp0Savnd+PGDXTq1Ak2NjYwMjJCvXr1sGvXrixxV69exaeffgpjY2OUKVMG06ZNy/dRtAkTJiA2NjbPv5TVr+nbf8lm15elT58+MDMzw/3799GmTRuYmZnB2dkZS5YsAQBcuXIFn376KUxNTeHq6ooNGzZk2V58fDyGDx8u7UsVK1bEzz//rPH81NueM2cOFixYgAoVKkChUODatWs59rG5ceMGunTpgtKlS8PY2Bju7u4YO3Zsvl6znGjzvmmzb+T12dPm86tej0wmw6ZNmzBu3Dg4OzvDxMQEiYmJAIDw8HC0bNkSlpaWMDExga+vL06ePKmxzqSkJAwfPhzlypWDQqGAnZ0dPvvsM5w/fz7X1yI6OhqXL1+Gn5+fxvJr167h2rVrGDBggMYfgYMGDYIQItc+gsHBwejcuTMAoFmzZtLrknmfXLp0KTw8PKBQKODk5ITBgwdr9YeJQqGAg4NDnnFqn332Ge7du/dRnirkERvKUc+ePfHTTz/h0KFD6N+/f7YxV69eRZs2bVCzZk1MmTIFCoUCt27dkr48qlatiilTpmDChAkYMGAAfHx8AAANGzaU1hEXF4dWrVqhW7du+Oqrr2Bvb59rXtOnT4dMJsOoUaPw5MkTLFiwAH5+frh48WK+/iLXJrfMhBBo27Ytjh07hsDAQNSqVQsHDx7EyJEj8fDhQ8yfP18j/p9//sFff/2FQYMGwdzcHIsWLULHjh1x//79LIVEZq9fv0bTpk1x69YtDBkyBG5ubti6dSv69OmD+Ph4DBs2DFWrVsXatWvx3XffoUyZMtJplpxOG7i6ugIA1q9fj0aNGuV61O3Ro0eoX78+4uPjMWDAAFSpUgUPHz7Etm3b8OrVK8jlcty5cwc7duxA586d4ebmhtjYWPz666/w9fXFtWvX4OTklOP6r169ikaNGsHZ2RmjR4+GqakptmzZgvbt2+PPP//El19+CQCIiYlBs2bNkJGRIcWtWLEi30ddfHx88OmnnyIoKAgDBw4ssKM2SqUSrVq1QpMmTRAUFIT169djyJAhMDU1xdixY9GjRw906NABy5cvR69eveDt7Q03NzcAb45K+vr64uHDh/jf//6HsmXL4tSpUxgzZgweP36MBQsWaGxr9erVSElJwYABA6BQKGBjY5NtgXf58mX4+PjA0NAQAwYMQLly5XD79m3s3r0b06dPz/M5vXr1Cs+ePdNYZmlpCUNDQ63fN232jfx+9vIydepUyOVy/PDDD0hNTYVcLsfRo0fRqlUr1K1bFxMnToSenh5Wr16NTz/9FH///Tfq168PAPjmm2+wbds2DBkyBNWqVUNcXBz++ecfXL9+HXXq1Mlxm6dOnQKALDEXLlwAAI2j4ADg5OSEMmXKSO3ZadKkCYYOHYpFixbhp59+QtWqVQFA+nfSpEmYPHky/Pz8MHDgQERFRWHZsmU4e/YsTp48WaBHmevWrQsAOHnyJGrXrl1g6y0Ugkqs1atXCwDi7NmzOcZYWlqK2rVrS/cnTpwoMu828+fPFwDE06dPc1zH2bNnBQCxevXqLG2+vr4CgFi+fHm2bb6+vtL9Y8eOCQDC2dlZJCYmSsu3bNkiAIiFCxdKy1xdXUXv3r3zXGduufXu3Vu4urpK93fs2CEAiGnTpmnEderUSchkMnHr1i1pGQAhl8s1ll26dEkAEL/88kuWbWW2YMECAUCsW7dOWpaWlia8vb2FmZmZxnN3dXUVrVu3znV9QgihUqmk19re3l4EBASIJUuWiHv37mWJ7dWrl9DT08t2v1CpVEIIIVJSUoRSqdRoi46OFgqFQkyZMkVj2duvb/PmzUWNGjVESkqKxnobNmwoKlWqJC0bPny4ACDCw8OlZU+ePBGWlpYCgIiOjs71Oav31adPn4oTJ04IAGLevHlS+9uvnXr/OnbsWJbn9fZz6N27twAgZsyYIS178eKFMDY2FjKZTGzatElafuPGDQFATJw4UVo2depUYWpqKv7991+NbY0ePVro6+uL+/fva2zbwsJCPHnyJM+8mjRpIszNzbO8r+r3LSfqdWV3U78e2r5v2u4buX32tP38qt+z8uXLi1evXmnkValSJeHv76/x3F+9eiXc3NzEZ599Ji2ztLQUgwcPzvX1yc64ceMEAJGUlKSxfPbs2QKA9B5m9sknn4gGDRrkut6tW7dmux8+efJEyOVy0aJFC43Xd/HixQKA+P3337XOPbfXPjO5XC4GDhyo9XqLC56KolyZmZnlOjrKysoKALBz58537mirUCjQt29freN79eoFc3Nz6X6nTp3g6OiIffv2vdP2tbVv3z7o6+tj6NChGsu///57CCGwf/9+jeV+fn6oUKGCdL9mzZqwsLDAnTt38tyOg4ODRodEQ0NDDB06FMnJyThx4kS+c5fJZDh48CCmTZsGa2trbNy4EYMHD4arqyu6du0qHcpWqVTYsWMHvvjiiyx/carXA7x5z9R9GJRKJeLi4qTTkLkdwn/+/DmOHj2KLl26ICkpCc+ePcOzZ88QFxcHf39/3Lx5Ew8fPpRehwYNGkh/WQNvjkj16NEj38+/SZMmaNasGYKCgvD69et8Pz4n/fr1k/5vZWUFd3d3mJqaokuXLtJyd3d3WFlZabzvW7duhY+PD6ytraXX4NmzZ/Dz84NSqURoaKjGdjp27JhnJ96nT58iNDQUX3/9NcqWLavRpm0fiQEDBiAkJETj5unpma/37V33jffRu3dvjSNxFy9exM2bN9G9e3fExcVJ+b58+RLNmzdHaGio9H1lZWWF8PBwPHr0KF/bjIuLg4GBAczMzDSWq/cvhUKR5TFGRkbvvP8dPnwYaWlpGD58uEb/of79+8PCwgJ79+59p/XmRr1/fmx4KopylZycDDs7uxzbu3btilWrVqFfv34YPXo0mjdvjg4dOqBTp05ad95zdnbOV0fhSpUqadyXyWSoWLHiB5/X5N69e3ByctIoqoD/P0x87949jeVv/7gAb74oXrx4ked2KlWqlOX1y2k72lIoFBg7dizGjh2Lx48f48SJE1i4cCG2bNkCQ0NDrFu3Dk+fPkViYiKqV6+e67pUKhUWLlyIpUuXIjo6GkqlUmrL7TTbrVu3IITA+PHjMX78+Gxjnjx5AmdnZ9y7dw9eXl5Z2t3d3bV8xpomTZoEX19fLF++HN999907rSMzIyOjLMWGpaUlypQpk6WQsLS01Hjfb968icuXL+dYrDx58kTjvvoUVm7UhVNe711uKlWqlKXPCACcOXNG6/ftXfeN9/H263Pz5k0AbwqenCQkJMDa2hpBQUHo3bs3XFxcULduXXz++efo1asXypcv/065qAus1NTULG0pKSnvfCpU/bl/e/+Xy+UoX778O38v5EYI8dF1HAZY2FAu/vvvPyQkJKBixYo5xhgbGyM0NBTHjh3D3r17ceDAAWzevBmffvopDh06BH19/Ty38yFGquT0YVQqlVrlVBBy2o54q6NxUXB0dES3bt3QsWNHeHh4YMuWLfma6G3GjBkYP348vv76a0ydOhU2NjbQ09PD8OHDcz1yp2774Ycf4O/vn21Mbvvb+2jSpAmaNm2KoKAgfPPNN1nac9tnspPT+6vN+65SqfDZZ5/lOAla5cqVNe4X9Wiu/Lxv77pvZJbfz+/br496O7Nnz85xKLn6SEuXLl3g4+OD7du349ChQ5g9ezZ+/vln/PXXX2jVqlWOOdra2iIjIwNJSUkaf+w4OjoCAB4/fgwXFxeNxzx+/FjjCGRxFx8fj1KlShV1GvnGwoZytHbtWgDI8YtMTU9PD82bN0fz5s0xb948zJgxA2PHjsWxY8fg5+dX4BW/+q8xNSEEbt26pTHfjrW1dbYjBe7du6fxl1h+cnN1dcXhw4ezfJGpJ7dTd9B9X66urrh8+TJUKpXGUZuC3g7w5hRXzZo1cfPmTTx79gx2dnawsLBAZGRkro/btm0bmjVrht9++01jeV5fhOrX3tDQMNsjA5m5urpmea8BICoqKtfH5WbSpElo2rQpfv311yxt1tbWAJBlv/kQfwlXqFABycnJeb4G+aF+bfN6795n3dq8b9ruG7l99rT9/OZEfQrYwsJCq9fY0dERgwYNwqBBg/DkyRPUqVMH06dPz7WwUQ/Zjo6O1vjuURdS586d0yhiHj16hP/++w8DBgzINZecXhf15z4qKkrjNUhLS0N0dHSB7kvAm5GRaWlp0pHijwn72FC2jh49iqlTp8LNzS3XPg3Pnz/Pskz9wVYfijU1NQWQ9QfjXf3xxx8a/X62bduGx48fa3wJVahQAadPn5aGJwPAnj17sgwLz09un3/+OZRKJRYvXqyxfP78+ZDJZLl+CebH559/jpiYGGzevFlalpGRgV9++QVmZmbw9fXN9zpv3ryJ+/fvZ1keHx+PsLAwWFtbo3Tp0tDT00P79u2xe/dunDt3Lku8+qiDvr5+liNPW7dulfpZ5MTOzk4qLB4/fpyl/enTp9L/P//8c5w+fRpnzpzRaF+/fn3uTzYXvr6+aNq0KX7++WekpKRotLm6ukJfXz9L/5alS5e+8/Zy0qVLF4SFheHgwYNZ2uLj47WaofZtpUuXRpMmTfD7779nea/f9yhhft43bfeN3D572n5+c1K3bl1UqFABc+bMQXJyco75KpVKJCQkaLTZ2dnByckp21NJmXl7ewNAls+Jh4cHqlSpghUrVmgc7Vu2bBlkMhk6deqU63pzel38/Pwgl8uxaNEijdf3t99+Q0JCAlq3bp3revMrIiICwLuPVCtKPGJD2L9/P27cuIGMjAzExsbi6NGjCAkJgaurK3bt2pXrJGBTpkxBaGgoWrduDVdXVzx58gRLly5FmTJl0LhxYwBvvqSsrKywfPlymJubw9TUFF5eXlr1G8iOjY0NGjdujL59+yI2NhYLFixAxYoVNYak9+vXD9u2bUPLli3RpUsX3L59G+vWrdPozJvf3L744gs0a9YMY8eOxd27d+Hp6YlDhw5h586dGD58eJZ1v6sBAwbg119/RZ8+fRAREYFy5cph27ZtOHnyJBYsWJClj482Ll26hO7du6NVq1bw8fGBjY0NHj58iDVr1uDRo0dYsGCBdIh/xowZOHToEHx9fTFgwABUrVoVjx8/xtatW/HPP//AysoKbdq0wZQpU9C3b180bNgQV65cwfr167X6a3rJkiVo3LgxatSogf79+6N8+fKIjY1FWFgY/vvvP2m+kx9//BFr165Fy5YtMWzYMGm4t/qI1ruaOHEimjVrlmW5paUlOnfujF9++QUymQwVKlTAnj17svR3KQgjR47Erl270KZNG/Tp0wd169bFy5cvceXKFWzbtg137959p1MAixYtQuPGjVGnTh0MGDAAbm5uuHv3Lvbu3fve85Fo+75pu2/k9tnT9vObEz09PaxatQqtWrWCh4cH+vbtC2dnZzx8+BDHjh2DhYUFdu/ejaSkJJQpUwadOnWCp6cnzMzMcPjwYZw9exZz587NdRvly5dH9erVcfjwYXz99dcabbNnz0bbtm3RokULdOvWDZGRkVi8eDH69euX5xGQWrVqQV9fHz///DMSEhKgUCjw6aefws7ODmPGjMHkyZPRsmVLtG3bFlFRUVi6dCk++eQTrSZWVE/Gqe4ovXv3bvz3338AgG+//RaWlpZSbEhICMqWLfvxDfUGONy7JFMP91bf5HK5cHBwEJ999plYuHChxrBitbeHex85ckS0a9dOODk5CblcLpycnERAQECWYaw7d+4U1apVEwYGBhrDDH19fYWHh0e2+eU0tHPjxo1izJgxws7OThgbG4vWrVtnO2x57ty5wtnZWSgUCtGoUSNx7ty5LOvMLbe3h3sLIURSUpL47rvvhJOTkzA0NBSVKlUSs2fPzjKcFkC2Q0hzGsb6ttjYWNG3b19RqlQpIZfLRY0aNXIcFqvNcO/Y2Fgxa9Ys4evrKxwdHYWBgYGwtrYWn376qdi2bVuW+Hv37olevXqJ0qVLC4VCIcqXLy8GDx4sUlNThRBvhvR+//33wtHRURgbG4tGjRqJsLCwLK9vdkOShRDi9u3bolevXsLBwUEYGhoKZ2dn0aZNmyy5XL58Wfj6+gojIyPh7Owspk6dKn777bd8D/d+m3ro+9uv3dOnT0XHjh2FiYmJsLa2Fv/73/9EZGRktsO9TU1Ns11vdvtzdu9TUlKSGDNmjKhYsaKQy+WiVKlSomHDhmLOnDkiLS1NCPH/r9/s2bOzrDOn1zYyMlJ8+eWXwsrKShgZGQl3d3cxfvz4HF+nvLaTmTbvm7b7hhA5f/aE0O7zq/5O2Lp1a7b5XrhwQXTo0EHY2toKhUIhXF1dRZcuXcSRI0eEEEKkpqaKkSNHCk9PT2Fubi5MTU2Fp6enWLp0aa6vg9q8efOEmZmZxlBzte3bt4tatWoJhUIhypQpI8aNGye9r3lZuXKlKF++vNDX188y9Hvx4sWiSpUqwtDQUNjb24uBAweKFy9eaLVeV1fXHIf1Z/48KZVK4ejoKMaNG6fVeosbmRDFoCcjERHRRyYhIQHly5dHUFAQAgMDizqdArNjxw50794dt2/fljpDf0xY2BAREb2jn3/+GatXr8a1a9cK5fpUhcHb2xs+Pj4ICgoq6lTeCQsbIiIi0hm6UV4SERERgYUNERER6RAWNkRERKQzWNgQERGRzuAEfYVIpVLh0aNHMDc3/ygvLEZERFRUhBBISkqCk5NTriPQWNgUokePHmW5KBoRERFp78GDByhTpkyO7SxsCpF6KvwHDx7AwsKiiLMhIiL6eCQmJsLFxSXPy8qwsClE6tNPFhYWLGyIiIjeQV5dOdh5mIiIiHQGCxsiIiLSGSxsiIiISGewsCEiIiKdwcKGiIiIdAYLGyIiItIZHO5NxZZSqcTly5cRFxcHW1tb1KxZE/r6+kWdFhERFWNFesQmNDQUX3zxBZycnCCTybBjx44cY7/55hvIZDIsWLBAY/nz58/Ro0cPWFhYwMrKCoGBgUhOTtaIuXz5Mnx8fGBkZAQXFxcEBQVlWf/WrVtRpUoVGBkZoUaNGti3b59GuxACEyZMgKOjI4yNjeHn54ebN2++83On3J04cQIBAQEYNmwYpkyZgmHDhiEgIAAnTpwo6tSIiKgYK9LC5uXLl/D09MSSJUtyjdu+fTtOnz4NJyenLG09evTA1atXERISgj179iA0NBQDBgyQ2hMTE9GiRQu4uroiIiICs2fPxqRJk7BixQop5tSpUwgICEBgYCAuXLiA9u3bo3379oiMjJRigoKCsGjRIixfvhzh4eEwNTWFv78/UlJSCuCVoMxOnDiBCRMmoHz58li2bBkOHDiAZcuWoXz58pgwYQKLGyIiypkoJgCI7du3Z1n+33//CWdnZxEZGSlcXV3F/PnzpbZr164JAOLs2bPSsv379wuZTCYePnwohBBi6dKlwtraWqSmpkoxo0aNEu7u7tL9Ll26iNatW2ts18vLS/zvf/8TQgihUqmEg4ODmD17ttQeHx8vFAqF2LhxY47PKSUlRSQkJEi3Bw8eCAAiISFBuxelBMrIyBCdO3cWo0aNEkqlUqNNqVSKUaNGiS5duoiMjIwiypCIiIpCQkKCVr+hxbrzsEqlQs+ePTFy5Eh4eHhkaQ8LC4OVlRXq1asnLfPz84Oenh7Cw8OlmCZNmkAul0sx/v7+iIqKwosXL6QYPz8/jXX7+/sjLCwMABAdHY2YmBiNGEtLS3h5eUkx2Zk5cyYsLS2lGy+AmbfLly8jJiYGPXv2zHL1Vj09PXz11Vd4/PgxLl++XEQZEhFRcVasC5uff/4ZBgYGGDp0aLbtMTExsLOz01hmYGAAGxsbxMTESDH29vYaMer7ecVkbs/8uOxisjNmzBgkJCRItwcPHuT6fAmIi4sDALi5uWXbXr58eY04IiKizIrtqKiIiAgsXLgQ58+fz/OCV8WVQqGAQqEo6jQ+Kra2tgDeHCXL7ijdnTt3NOKIiIgyK7ZHbP7++288efIEZcuWhYGBAQwMDHDv3j18//33KFeuHADAwcEBT5480XhcRkYGnj9/DgcHBykmNjZWI0Z9P6+YzO2ZH5ddDBWMmjVrwsHBAWvXroVKpdJoU6lUWLduHRwdHVGzZs0iypCIiIqzYlvY9OzZE5cvX8bFixelm5OTE0aOHImDBw8CALy9vREfH4+IiAjpcUePHoVKpYKXl5cUExoaivT0dCkmJCQE7u7usLa2lmKOHDmisf2QkBB4e3sDeHNaxMHBQSMmMTER4eHhUgwVDH19fQwePBhhYWH46aefEBkZiVevXiEyMhI//fQTwsLCMGjQIM5nQ0RE2SukzszZSkpKEhcuXBAXLlwQAMS8efPEhQsXxL1797KNf3tUlBBCtGzZUtSuXVuEh4eLf/75R1SqVEkEBARI7fHx8cLe3l707NlTREZGik2bNgkTExPx66+/SjEnT54UBgYGYs6cOeL69eti4sSJwtDQUFy5ckWKmTVrlrCyshI7d+4Uly9fFu3atRNubm7i9evXWj9fbXt0kxDHjx8XnTt3Fj4+PtKtS5cu4vjx40WdGhERFQFtf0OLtLA5duyYAJDl1rt372zjsyts4uLiREBAgDAzMxMWFhaib9++IikpSSPm0qVLonHjxkKhUAhnZ2cxa9asLOvesmWLqFy5spDL5cLDw0Ps3btXo12lUonx48cLe3t7oVAoRPPmzUVUVFS+ni8Lm/zJyMgQ58+fFyEhIeL8+fMc4k1EVIJp+xsqE0KIojpaVNIkJibC0tISCQkJsLCwKOp0iIiIPhra/oYW2z42RERERPnFwoaIiIh0BgsbIiIi0hksbIiIiEhnsLAhIiIincHChoiIiHQGCxsiIiLSGSxsiIiISGewsCEiIiKdwcKGiIiIdAYLGyIiItIZLGyIiIhIZ7CwISIiIp3BwoaIiIh0BgsbIiIi0hksbIiIiEhnsLAhIiIincHChoiIiHQGCxsiIiLSGSxsiIiISGewsCEiIiKdwcKGiIiIdAYLGyIiItIZLGyIiIhIZ7CwISIiIp3BwoaIiIh0BgsbIiIi0hksbIiIiEhnsLAhIiIinVGkhU1oaCi++OILODk5QSaTYceOHVJbeno6Ro0ahRo1asDU1BROTk7o1asXHj16pLGO58+fo0ePHrCwsICVlRUCAwORnJysEXP58mX4+PjAyMgILi4uCAoKypLL1q1bUaVKFRgZGaFGjRrYt2+fRrsQAhMmTICjoyOMjY3h5+eHmzdvFtyLQURERO+tSAubly9fwtPTE0uWLMnS9urVK5w/fx7jx4/H+fPn8ddffyEqKgpt27bViOvRoweuXr2KkJAQ7NmzB6GhoRgwYIDUnpiYiBYtWsDV1RURERGYPXs2Jk2ahBUrVkgxp06dQkBAAAIDA3HhwgW0b98e7du3R2RkpBQTFBSERYsWYfny5QgPD4epqSn8/f2RkpLyAV4ZIiIieieimAAgtm/fnmvMmTNnBABx7949IYQQ165dEwDE2bNnpZj9+/cLmUwmHj58KIQQYunSpcLa2lqkpqZKMaNGjRLu7u7S/S5duojWrVtrbMvLy0v873//E0IIoVKphIODg5g9e7bUHh8fLxQKhdi4cWOO+aakpIiEhATp9uDBAwFAJCQk5PFqEBERUWYJCQla/YZ+VH1sEhISIJPJYGVlBQAICwuDlZUV6tWrJ8X4+flBT08P4eHhUkyTJk0gl8ulGH9/f0RFReHFixdSjJ+fn8a2/P39ERYWBgCIjo5GTEyMRoylpSW8vLykmOzMnDkTlpaW0s3FxeX9XgAiIiLK1UdT2KSkpGDUqFEICAiAhYUFACAmJgZ2dnYacQYGBrCxsUFMTIwUY29vrxGjvp9XTOb2zI/LLiY7Y8aMQUJCgnR78OBBvp4zERER5Y9BUSegjfT0dHTp0gVCCCxbtqyo09GaQqGAQqEo6jSIiIhKjGJ/xEZd1Ny7dw8hISHS0RoAcHBwwJMnTzTiMzIy8Pz5czg4OEgxsbGxGjHq+3nFZG7P/LjsYoiIiKjoFevCRl3U3Lx5E4cPH4atra1Gu7e3N+Lj4xERESEtO3r0KFQqFby8vKSY0NBQpKenSzEhISFwd3eHtbW1FHPkyBGNdYeEhMDb2xsA4ObmBgcHB42YxMREhIeHSzFERERU9Iq0sElOTsbFixdx8eJFAG866V68eBH3799Heno6OnXqhHPnzmH9+vVQKpWIiYlBTEwM0tLSAABVq1ZFy5Yt0b9/f5w5cwYnT57EkCFD0K1bNzg5OQEAunfvDrlcjsDAQFy9ehWbN2/GwoULMWLECCmPYcOG4cCBA5g7dy5u3LiBSZMm4dy5cxgyZAgAQCaTYfjw4Zg2bRp27dqFK1euoFevXnByckL79u0L9TUjIiKiXBTOIK3sHTt2TADIcuvdu7eIjo7Otg2AOHbsmLSOuLg4ERAQIMzMzISFhYXo27evSEpK0tjOpUuXROPGjYVCoRDOzs5i1qxZWXLZsmWLqFy5spDL5cLDw0Ps3btXo12lUonx48cLe3t7oVAoRPPmzUVUVFS+nq+2Q9WIiIhIk7a/oTIhhCiSiqoESkxMhKWlJRISEjT6ChEREVHutP0NLdZ9bIiIiIjyg4UNERER6QwWNkRERKQzWNgQERGRzmBhQ0RERDqDhQ0RERHpDBY2REREpDNY2BAREZHOYGFDREREOoOFDREREekMFjZERESkM1jYEBERkc5gYUNEREQ6g4UNERER6QwWNkRERKQzWNgQERGRzmBhQ0RERDqDhQ0RERHpDBY2REREpDNY2BAREZHOYGFDREREOoOFDREREekMFjZERESkM1jYEBERkc5gYUNEREQ6g4UNERER6QwWNkRERKQzWNgQERGRzmBhQ0RERDqjSAub0NBQfPHFF3BycoJMJsOOHTs02oUQmDBhAhwdHWFsbAw/Pz/cvHlTI+b58+fo0aMHLCwsYGVlhcDAQCQnJ2vEXL58GT4+PjAyMoKLiwuCgoKy5LJ161ZUqVIFRkZGqFGjBvbt25fvXIiIiKhoFWlh8/LlS3h6emLJkiXZtgcFBWHRokVYvnw5wsPDYWpqCn9/f6SkpEgxPXr0wNWrVxESEoI9e/YgNDQUAwYMkNoTExPRokULuLq6IiIiArNnz8akSZOwYsUKKebUqVMICAhAYGAgLly4gPbt26N9+/aIjIzMVy5ERERUxEQxAUBs375duq9SqYSDg4OYPXu2tCw+Pl4oFAqxceNGIYQQ165dEwDE2bNnpZj9+/cLmUwmHj58KIQQYunSpcLa2lqkpqZKMaNGjRLu7u7S/S5duojWrVtr5OPl5SX+97//aZ1LdlJSUkRCQoJ0e/DggQAgEhIS8vPSEBERlXgJCQla/YYW2z420dHRiImJgZ+fn7TM0tISXl5eCAsLAwCEhYXBysoK9erVk2L8/Pygp6eH8PBwKaZJkyaQy+VSjL+/P6KiovDixQspJvN21DHq7WiTS3ZmzpwJS0tL6ebi4vKuLwcRERFpodgWNjExMQAAe3t7jeX29vZSW0xMDOzs7DTaDQwMYGNjoxGT3ToybyOnmMzteeWSnTFjxiAhIUG6PXjwII9nTURERO/DoKgT0GUKhQIKhaKo0yAiIioxiu0RGwcHBwBAbGysxvLY2FipzcHBAU+ePNFoz8jIwPPnzzVisltH5m3kFJO5Pa9ciIiIqOgV28LGzc0NDg4OOHLkiLQsMTER4eHh8Pb2BgB4e3sjPj4eERERUszRo0ehUqng5eUlxYSGhiI9PV2KCQkJgbu7O6ytraWYzNtRx6i3o00uREREVAwUUmfmbCUlJYkLFy6ICxcuCABi3rx54sKFC+LevXtCCCFmzZolrKysxM6dO8Xly5dFu3bthJubm3j9+rW0jpYtW4ratWuL8PBw8c8//4hKlSqJgIAAqT0+Pl7Y29uLnj17isjISLFp0yZhYmIifv31Vynm5MmTwsDAQMyZM0dcv35dTJw4URgaGoorV65IMdrkkhdte3QTERGRJm1/Q4u0sDl27JgAkOXWu3dvIcSbYdbjx48X9vb2QqFQiObNm4uoqCiNdcTFxYmAgABhZmYmLCwsRN++fUVSUpJGzKVLl0Tjxo2FQqEQzs7OYtasWVly2bJli6hcubKQy+XCw8ND7N27V6Ndm1zywsKGiIjo3Wj7GyoTQoiiOlpU0iQmJsLS0hIJCQmwsLAo6nSIiIg+Gtr+hhbbPjZERERE+cXChoiIiHQGCxsiIiLSGSxsiIiISGewsCEiIiKdwcKGiIiIdAYLGyIiItIZLGyIiIhIZ7CwISIiIp3BwoaIiIh0xnsVNikpKQWVBxEREdF7y3dho1KpMHXqVDg7O8PMzAx37twBAIwfPx6//fZbgSdIREREpK18FzbTpk1DcHAwgoKCIJfLpeXVq1fHqlWrCjQ5IiIiovzId2Hzxx9/YMWKFejRowf09fWl5Z6enrhx40aBJkdERESUH/kubB4+fIiKFStmWa5SqZCenl4gSRERERG9i3wXNtWqVcPff/+dZfm2bdtQu3btAkmKiIiI6F0Y5PcBEyZMQO/evfHw4UOoVCr89ddfiIqKwh9//IE9e/Z8iByJiIiItJLvIzbt2rXD7t27cfjwYZiammLChAm4fv06du/ejc8+++xD5EgllFKpxIULF3D48GFcuHABSqWyqFMiIqJiTiaEEEWdREmRmJgIS0tLJCQkwMLCoqjTKdZOnDiBJUuWICYmRlrm4OCAwYMHw9fXtwgzIyKioqDtbyhnHqZi58SJE5gwYQLKly+PZcuW4cCBA1i2bBnKly+PCRMm4MSJE0WdIhERFVP5PmKjp6cHmUyWYztPF+SMR2zyplQqERAQgPLly2PGjBnQ0/v/2lulUuGnn35CdHQ0NmzYoDHdABER6TZtf0Pz3Xl4+/btGvfT09Nx4cIFrFmzBpMnT85/pkSZXL58GTExMZg4caJGUQO8Kaq/+uorDBo0CJcvX+YoPCIiyiLfhU27du2yLOvUqRM8PDywefNmBAYGFkhiVDLFxcUBANzc3LJtL1++vEYcERFRZgXWx6ZBgwY4cuRIQa2OSihbW1sAQHR0dLbt6muTqeOIiIgyK5DC5vXr11i0aBGcnZ0LYnVUgtWsWRMODg5Yu3YtVCqVRptKpcK6devg6OiImjVrFlGGRERUnOX7VJS1tbVG52EhBJKSkmBiYoJ169YVaHJU8ujr62Pw4MGYMGECfvrpJ3z11VcoX7487ty5g3Xr1iEsLAxTpkxhx2EiIspWvkdFBQcHaxQ2enp6KF26NLy8vGBtbV3gCeoSjorSXnbz2Dg6OmLQoEGcx4aIqATS9jeUE/QVIhY2+ZOWloYdO3bg0aNHcHJyQvv27SGXy4s6LSIiKgIFOtz78uXLWm+YfR+oIGR3xGbbtm2ceZiIiHKlVefhWrVqoXbt2qhVq1aut4KeV0SpVGL8+PFwc3ODsbExKlSogKlTpyLzQSYhBCZMmABHR0cYGxvDz88PN2/e1FjP8+fP0aNHD1hYWMDKygqBgYFITk7WiLl8+TJ8fHxgZGQEFxcXBAUFZcln69atqFKlCoyMjFCjRg3s27evQJ8vvcGZh4mI6J0JLdy9e1frW0GaPn26sLW1FXv27BHR0dFi69atwszMTCxcuFCKmTVrlrC0tBQ7duwQly5dEm3bthVubm7i9evXUkzLli2Fp6enOH36tPj7779FxYoVRUBAgNSekJAg7O3tRY8ePURkZKTYuHGjMDY2Fr/++qsUc/LkSaGvry+CgoLEtWvXxLhx44ShoaG4cuWK1s8nISFBABAJCQnv+croroyMDNG5c2cxatQooVQqNdqUSqUYNWqU6NKli8jIyCiiDImIqCho+xuqVWFTVFq3bi2+/vprjWUdOnQQPXr0EEIIoVKphIODg5g9e7bUHh8fLxQKhdi4caMQQohr164JAOLs2bNSzP79+4VMJhMPHz4UQgixdOlSYW1tLVJTU6WYUaNGCXd3d+l+ly5dROvWrTVy8fLyEv/73/9yzD8lJUUkJCRItwcPHrCwycP58+eFj4+PiIyMzLb9ypUrwsfHR5w/f76QMyMioqKkbWHzzvPYXLt2DQcOHMCuXbs0bgWpYcOGOHLkCP79918AwKVLl/DPP/+gVatWAN5M4hYTEwM/Pz/pMZaWlvDy8kJYWBgAICwsDFZWVqhXr54U4+fnBz09PYSHh0sxTZo00eiY6u/vj6ioKLx48UKKybwddYx6O9mZOXMmLC0tpZuLi8v7vBwlAmceJiKi95HveWzu3LmDL7/8EleuXIFMJpP6u6iHgBfkRTBHjx6NxMREVKlSBfr6+lAqlZg+fTp69OgBAFLHUnt7e43H2dvbS20xMTGws7PTaDcwMICNjY1GzNs/pOp1xsTEwNraGjExMbluJztjxozBiBEjpPuJiYksbvKQeeZhDw+PLO2ceZiIiHKT7yM2w4YNg5ubG548eQITExNcvXoVoaGhqFevHo4fP16gyW3ZsgXr16/Hhg0bcP78eaxZswZz5szBmjVrCnQ7H4pCoYCFhYXGjXLHmYeJiOh95PuITVhYGI4ePYpSpUpBT08Penp6aNy4MWbOnImhQ4fiwoULBZbcyJEjMXr0aHTr1g0AUKNGDdy7dw8zZ85E79694eDgAACIjY2Fo6Oj9LjY2FjUqlULAODg4IAnT55orDcjIwPPnz+XHu/g4IDY2FiNGPX9vGLU7VQwMs88PGbMGHh5eUGhUCA1NRXh4eE4ffo0Zx4mIqIc5fuIjVKphLm5OQCgVKlSePToEQDA1dUVUVFRBZrcq1evoKenmaK+vr70l7ybmxscHBw0Lr6ZmJiI8PBweHt7AwC8vb0RHx+PiIgIKebo0aNQqVTw8vKSYkJDQ5Geni7FhISEwN3dXZpN2dvbO8tFPkNCQqTtUMHx9fVF165dcebMGSxYsAA///wzFixYgDNnzqBr166cx4aIiHKU7yM21atXx6VLl+Dm5gYvLy8EBQVBLpdjxYoVUsfOgvLFF19g+vTpKFu2LDw8PHDhwgXMmzcPX3/9NYA3/XqGDx+OadOmoVKlSnBzc8P48eOlWWoBoGrVqmjZsiX69++P5cuXIz09HUOGDEG3bt3g5OQEAOjevTsmT56MwMBAjBo1CpGRkVi4cCHmz58v5TJs2DD4+vpi7ty5aN26NTZt2oRz585hxYoVBfqc6c08Nps3b0aDBg3g7OyMtLQ0yOVyPHz4EJs3b4aHhweLGyIiyl5+h1sdOHBA/Pnnn0IIIW7evCnc3d2FTCYTpUqVEkeOHHmnIVw5SUxMFMOGDRNly5YVRkZGonz58mLs2LEaw7JVKpUYP368sLe3FwqFQjRv3lxERUVprCcuLk4EBAQIMzMzYWFhIfr27SuSkpI0Yi5duiQaN24sFAqFcHZ2FrNmzcqSz5YtW0TlypWFXC4XHh4eYu/evfl6PpzHJm/qeWz69esnOnXqJHx8fKRbp06dRL9+/TiPDRFRCaTtb6jW14qqV68e+vXrh+7du2fpBPv8+fMsV/2mrHitqLxduHABw4YNA/BmuH/Pnj3h5uaG6OhorF27FqdOnQIALFy4sMBnuiYiouJL299QrfvYeHp64scff4SjoyN69eqlMQLKxsaGRQ0ViKdPnwIAvLy8MGPGDHh4eMDExAQeHh6YMWOG1C9KHUdERJSZ1oXNb7/9hpiYGCxZsgT3799H8+bNUbFiRcyYMQMPHz78kDlSCRIfHw8AaNKkSZaO43p6evDx8dGIIyIiyixfo6JMTEzQp08fHD9+HP/++y+6deuGX3/9FeXKlUPr1q3x119/fag8qYSwsrICAISGhmY7j83ff/+tEUdERJTZO19SoUKFCpg2bRru3r2LjRs34vTp0+jcuXNB5kYlUOnSpQEAZ86cwU8//YTIyEi8evUKkZGR+Omnn3DmzBmNOCIioszyPdw7s+PHj2P16tX4888/YWBggP79+xdUXlRCqWcetrS0xJ07dzBo0CCpzdHREZUrV0ZiYiJnHiYiomzlu7D577//EBwcjODgYNy5cwc+Pj5YunQpOnfuDGNj4w+RI5UgmWcebtCgAbp168aZh4mISGtaD/fesmULfv/9dxw5cgR2dnbo3bs3vv76a1SsWPFD56gzONxbeydOnMCSJUs0LjLq6OiIQYMGcXI+IqISSNvfUK2P2Hz11Vdo3bo1tm/fjs8//zzLiBWigvb2leIzMjKKKBMiIvpYaH3E5smTJ7Czs/vQ+eg0HrHRzokTJzB+/Pgc26dOncqjNkREJUyBT9DHooYKg1KpxMyZMwEg23lsAGDmzJlZjuYQEREB7zHcm+hDOH/+PF69egUAqF+/PpYtW4YDBw5g2bJlqF+/PoA3V30/f/58UaZJRETFFAsbKlb2798PAChXrhxmzZqlcUmFWbNmoVy5chpxREREmbGwoWIlNjYWANCqVatsT0W1bNlSI46IiCgzFjZUrNjb2wN4c0Qmu0sqHDhwQCOOiIgoM62Ge1tbW2t99e7nz5+/V0JUsrVq1QqHDx/G3bt3MXr0aPTq1Qvly5fHnTt38Mcff+Du3btSHBER0du0KmwWLFgg/T8uLg7Tpk2Dv78/vL29AQBhYWE4ePBgrkN0ibRRp04dmJiY4NWrV9JMw2rqU1MmJiaoU6dOUaVIRETFmNbz2Kh17NgRzZo1w5AhQzSWL168GIcPH8aOHTsKMj+dwnlstMN5bIiI6G3a/obmu7AxMzPDxYsXs1xK4datW6hVqxaSk5PfLeMSgIWN9k6cOIFffvkFT548kZbZ2dnh22+/ZVFDRFQCFfgEfWq2trbYuXNnluU7d+6Era1tfldHlK2rV6/i2bNnGsuePXuGq1evFlFGRET0Mcj31b0nT56Mfv364fjx4/Dy8gIAhIeH48CBA1i5cmWBJ0glz9KlS7Fp0yZYW1ujX79+aNiwIU6dOoVVq1Zh06ZNAIBBgwYVcZZERFQc5ftUFPCmkFm0aBGuX78OAKhatSqGDh0qFTqUPZ6KyltaWhr8/f1hYWGBP//8EwYG/197Z2RkoGPHjkhMTMTBgwchl8uLMFMiIipMBX5178y8vLywfv36d06OKCc7duyAUqlEv379NIoaADAwMEBgYCDmzJmDHTt2oEuXLkWUJRERFVfvNEHf7du3MW7cOHTv3l3q3Ll//372f6D39ujRIwBAw4YNs21XL1fHERERZZbvwubEiROoUaMGwsPD8eeff0qjoC5duoSJEycWeIJUsjg5OQEATp06lW27erk6joiIKLN8FzajR4/GtGnTEBISotHH4dNPP9WYTI3oXbRv3x76+vpYtWoVMjIyNNoyMjLw22+/QV9fH+3bty+aBImIqFjLd2Fz5coVfPnll1mW29nZZRmeS5RfcrkcnTt3xosXL9CxY0fs2rULz549w65du9CxY0e8ePECnTt3ZsdhIiLKVr47D1tZWeHx48dwc3PTWH7hwgU4OzsXWGJUcqmHcm/duhVz5syRluvr66Nbt24c6k1ERDnKd2HTrVs3jBo1Clu3boVMJoNKpcLJkyfxww8/oFevXh8iRyqBBg0ahL59+2LZsmV4+PAhnJ2dMXDgQBgbGxd1akREVIzlex6btLQ0DB48GMHBwVAqlTAwMIBSqUT37t0RHBwMfX39D5XrR4/z2GjvxIkTWLRoEZ4+fSotK126NIYOHcpLKhARlUAf7JIKcrkcK1euxO3bt7Fnzx6sW7cON27cwNq1az9IUfPw4UN89dVXsLW1hbGxMWrUqIFz585J7UIITJgwAY6OjjA2Noafnx9u3rypsY7nz5+jR48esLCwgJWVFQIDA7Nc0+ry5cvw8fGBkZERXFxcEBQUlCWXrVu3okqVKjAyMkKNGjWwb9++An++9P8Xwcxc1ADA06dPMX78eJw4caKIMiMiouLuneaxAYCyZcvi888/R5cuXVCpUqWCzEny4sULNGrUCIaGhti/fz+uXbuGuXPnwtraWooJCgrCokWLsHz5coSHh8PU1BT+/v5ISUmRYnr06IGrV68iJCQEe/bsQWhoKAYMGCC1JyYmokWLFnB1dUVERARmz56NSZMmYcWKFVLMqVOnEBAQgMDAQFy4cAHt27dH+/btERkZ+UGee0mlVCoxdepUAIChoSF69OiBDRs2oEePHjA0NATw5ureSqWyKNMkIqJiSqtTUSNGjNB6hfPmzXuvhDIbPXo0Tp48ib///jvbdiEEnJyc8P333+OHH34AACQkJMDe3h7BwcHo1q0brl+/jmrVquHs2bOoV68eAODAgQP4/PPP8d9//8HJyQnLli3D2LFjERMTI422GT16NHbs2IEbN24AALp27YqXL19iz5490vYbNGiAWrVqYfny5dnml5qaitTUVOl+YmIiXFxceCoqF+Hh4Rg5ciT09fWzXDZBfbkFpVKJ2bNn8xIeREQlSIGeirpw4YJWt4sXLxZU/gCAXbt2oV69eujcuTPs7OxQu3ZtjQttRkdHIyYmBn5+ftIyS0tLeHl5ISwsDAAQFhYGKysrqagBAD8/P+jp6SE8PFyKadKkicaPqL+/P6KiovDixQspJvN21DHq7WRn5syZsLS0lG4uLi7v8WqUDJs3bwYAdOzYMcuQbrlcjg4dOmjEERERZabVqKhjx4596DyydefOHSxbtgwjRozATz/9hLNnz2Lo0KGQy+Xo3bs3YmJiAAD29vYaj7O3t5faYmJiYGdnp9FuYGAAGxsbjZi3h6+r1xkTEwNra2vExMTkup3sjBkzRuNol/qIDeUsKSkJAODh4ZFte7Vq1TTiiIiIMnuni2AWFpVKhXr16mHGjBkAgNq1ayMyMhLLly9H7969izi7vCkUCigUiqJO46NStWpVREVFYcWKFWjcuDEiIyMRFxcHW1tbVK9eXTpiV7Vq1SLOlIiIiqN3KmzOnTuHLVu24P79+0hLS9No++uvvwokMQBwdHSU/kJXq1q1Kv78808AgIODAwAgNjYWjo6OUkxsbCxq1aolxagv1KmWkZGB58+fS493cHBAbGysRoz6fl4x6nYqGAMHDsSOHTvw8OFD+Pv7a1xWwcDAQLo/cODAokqRiIiKsXyPitq0aRMaNmyI69evY/v27UhPT8fVq1dx9OhRWFpaFmhyjRo1QlRUlMayf//9F66urgAANzc3ODg44MiRI1J7YmIiwsPD4e3tDQDw9vZGfHw8IiIipJijR49CpVJJnU+9vb0RGhqK9PR0KSYkJATu7u7SCCxvb2+N7ahj1NuhgmFsbIwqVaoAQLbXigKAKlWqcKI+IiLKVr4LmxkzZmD+/PnYvXs35HI5Fi5ciBs3bqBLly4oW7ZsgSb33Xff4fTp05gxYwZu3bqFDRs2YMWKFRg8eDAAQCaTYfjw4Zg2bRp27dqFK1euoFevXnBycpIukli1alW0bNkS/fv3x5kzZ3Dy5EkMGTIE3bp1k64Q3b17d8jlcgQGBuLq1avYvHkzFi5cqNE/ZtiwYThw4ADmzp2LGzduYNKkSTh37hyGDBlSoM+5pFMqlYiPj9cY0p+ZtbU1EhISONybiIiyJ/LJxMREREdHCyGEsLGxEZcvXxZCCHHt2jXh4OCQ39Xlaffu3aJ69epCoVCIKlWqiBUrVmi0q1QqMX78eGFvby8UCoVo3ry5iIqK0oiJi4sTAQEBwszMTFhYWIi+ffuKpKQkjZhLly6Jxo0bC4VCIZydncWsWbOy5LJlyxZRuXJlIZfLhYeHh9i7d2++nktCQoIAIBISEvL1uJLk/PnzwsfHR0RGRoqkpCQxevRo0bt3bzF69GiRlJQkrly5Inx8fMT58+eLOlUiIipE2v6G5ruPjbW1tTQixdnZGZGRkahRowbi4+Px6tWrAi67gDZt2qBNmzY5tstkMkyZMgVTpkzJMcbGxgYbNmzIdTs1a9bMcb4ctc6dO6Nz5865J0zvJS4uDsCbGacnT54sjTq7c+cOvv76a/Tr108jjoiIKLN8FzZNmjRBSEgIatSogc6dO2PYsGE4evQoQkJC0Lx58w+RI5Ugtra2AIDp06fD29sbEydOhJubG6Kjo7F27VpMnz5dI46IiCizfF8E8/nz50hJSYGTkxNUKhWCgoJw6tQpVKpUCePGjcuxbwTxIpjaUM8ubGFhgT///BMGBv9fe2dkZKBjx45ITEzMMisxERHpNm1/Q/N9xMbGxkb6v56eHkaPHv1uGRJl4+rVq1AqlXjx4gXGjRuH+vXrQ6FQIDU1FWfOnJFmgr569Spq165dxNkSEVFxk+/CZt++fdDX14e/v7/G8kOHDkGpVKJVq1YFlhyVPOq+Mx07dsSOHTtw6tQpqU1fXx8dO3bEn3/+yT42RESUrXwXNqNHj8asWbOyLFepVBg9ejQLG3ov6r4zf/75Jxo0aIAyZcogNTUVCoUC//33nzQ5I/vYEBFRdvJd2Ny8eTPLbMDAm0nTbt26VSBJUcnl4eEBfX19GBkZ4e7duzh9+rTU5uDgAFNTU6SkpOR4LSkiIirZ8l3YWFpa4s6dOyhXrpzG8lu3bsHU1LSg8qISSt3H5uXLl5DL5ejatSucnJzw6NEjHDp0CC9fvpTi2MeGiIjelu/Cpl27dhg+fDi2b9+OChUqAHhT1Hz//fdo27ZtgSdIJcvTp08BvLlOWGxsLDZv3iy16enpwdHREY8fP5biiIiIMsv3JRWCgoJgamqKKlWqwM3NDW5ubqhatSpsbW0xZ86cD5EjlSDx8fEAgMePH6Nu3bpwdHSEubk5HB0dUbduXTx+/FgjjoiIKLN3OhV16tQphISE4NKlSzA2NkbNmjXRpEmTD5EflTDquQlkMhnOnj0rLU9KSsLjx48hk8kghOA8QERElK18FzbAmx+dFi1aoEWLFgWdD5VwiYmJAAD1vJHVqlVDv379sGrVKly7dk1aro4jIiLKTOtTUWFhYdizZ4/Gsj/++ANubm6ws7PDgAEDkJqaWuAJUsmSeTZhGxsbXLt2DSNGjMC1a9c0hnhz1mEiIsqO1oXNlClTcPXqVen+lStXEBgYCD8/P4wePRq7d+/GzJkzP0iSVHL89ddf0v8rV66MJk2aoE6dOmjSpAkqVaqUbRwREZGa1qeiLl68iKlTp0r3N23aBC8vL6xcuRIA4OLigokTJ2LSpEkFniSVHOrh3Obm5hpz2KiZmZkhOTlZiiMiIspM68LmxYsXsLe3l+6fOHFCY5bhTz75BA8ePCjY7KjEsbe3x9OnT5GUlAQDAwP4+vqiatWquH79Ok6cOIHk5GQpjoiI6G1an4qyt7dHdHQ0gDdXYD5//jwaNGggtSclJcHQ0LDgM6QSZfLkydL/ra2tceTIESxevBhHjhzRuABr5jgiIiI1rQubzz//HKNHj8bff/+NMWPGwMTEBD4+PlL75cuXpQn7iN7VsWPHpP8/ffoULi4u8PHxgYuLC548eZJtHBERkZrWp6KmTp2KDh06wNfXF2ZmZlizZo3GyJTff/+dw7/pvT169AgAYGVlhfj4eDx48EDjFKelpSUSEhKkOCIiosy0LmxKlSqF0NBQJCQkwMzMDPr6+hrtW7duhZmZWYEnSCWLk5MTgDczC9etWxfR0dF49eoVTExM4ObmhoiICI04IiKizGRCPeMZfXCJiYnSEQfOnJu9169fw9/fH3p6b86SqlQqqS3zsoMHD8LY2LhIciQiosKn7W9ovq8VRfQh3bhxA8Cb4kUIgRYtWuC3335DixYtIISQCh11HBERUWbvdEkFog8lNjYWAKBQKJCeno5Dhw7h0KFDAAB9fX0YGBggNTVViiMiIsqMR2yoWLl27RoAoFOnTtizZw8aNWqE8uXLo1GjRti9ezc6duyoEUdERJQZj9hQsXT48GFs2rQJSqUSAHDnzh188cUXKFWqVBFnRkRExRmP2FCxUqZMGQBvTknp6emhR48e2LBhA3r06AE9PT3pFJQ6joiIKDOOiipEHBWVt+TkZHz++ecA3kwx8OzZM6mtdOnSePr0KQBg3759nF6AiKgE4ago+ijt27dP+r9SqUStWrXg6emJWrVqISMjI9s4IiIiNfaxoWJFPaNwxYoVcevWLbx48UKjXb2cMw8TEVF2WNhQsaKeUfjWrVuwsLBA6dKlkZGRAQMDAzx9+hS3bt3SiCMiIsrsozoVNWvWLMhkMgwfPlxalpKSgsGDB8PW1hZmZmbo2LFjljlO7t+/j9atW8PExAR2dnYYOXKkxmkNADh+/Djq1KkDhUKBihUrIjg4OMv2lyxZgnLlysHIyAheXl44c+bMh3iaJZq6fw3wpr/N7du3ce/ePdy+fRvJycnZxhEREal9NIXN2bNn8euvv6JmzZoay7/77jvs3r0bW7duxYkTJ/Do0SN06NBBalcqlWjdujXS0tJw6tQprFmzBsHBwZgwYYIUEx0djdatW6NZs2a4ePEihg8fjn79+uHgwYNSzObNmzFixAhMnDgR58+fh6enJ/z9/TWuOE3vL3PfGSEE6tWrhwEDBqBevXrI3M+dfWyIiCg7H8WoqOTkZNSpUwdLly7FtGnTUKtWLSxYsAAJCQkoXbo0NmzYgE6dOgF4M9V+1apVERYWhgYNGmD//v1o06YNHj16BHt7ewDA8uXLMWrUKDx9+hRyuRyjRo3C3r17ERkZKW2zW7duiI+Px4EDBwAAXl5e+OSTT7B48WIAb6b8d3FxwbfffovRo0dr9Tw4Kipvc+fOxc6dO2FgYJDlqBoAaXm7du3w/fffF0GGRERUFHRqVNTgwYPRunVr+Pn5aSyPiIhAenq6xvIqVaqgbNmyCAsLAwCEhYWhRo0aUlEDAP7+/khMTMTVq1elmLfX7e/vL60jLS0NERERGjF6enrw8/OTYrKTmpqKxMREjRvlTj28OyMjAw0aNECTJk1Qp04dNGnSBA0aNJCKnczDwImIiNSKfefhTZs24fz58zh79myWtpiYGMjlclhZWWkst7e3R0xMjBSTuahRt6vbcotJTEzE69ev8eLFCyiVymxjcrsY48yZMzF58mTtnigBAGxtbQG8KRzv3r0rvUcA4ODgAD09PahUKimOiIgos2J9xObBgwcYNmwY1q9fDyMjo6JOJ9/GjBmDhIQE6fbgwYOiTqnY09N7s0uqVCrExcWhe/fuWL9+Pbp37464uDjp6t7qOCIiosyK9RGbiIgIPHnyBHXq1JGWKZVKhIaGYvHixTh48CDS0tIQHx+vcdQmNjYWDg4OAN78lf/26CX1qKnMMW+PpIqNjYWFhQWMjY2hr68PfX39bGPU68iOQqGAQqHI/xMvwapUqQLgTeGSkZGBDRs2YMOGDQAAmUwmHbFRxxEREWVWrP/sbd68Oa5cuYKLFy9Kt3r16qFHjx7S/w0NDXHkyBHpMVFRUbh//z68vb0BAN7e3rhy5YrG6KWQkBBYWFigWrVqUkzmdahj1OuQy+WoW7euRoxKpcKRI0ekGCoY6iHdKpUKlpaWGjMPW1paSkdsMg/9JiIiUivWR2zMzc1RvXp1jWWmpqawtbWVlgcGBmLEiBGwsbGBhYUFvv32W3h7e6NBgwYAgBYtWqBatWro2bMngoKCEBMTg3HjxmHw4MHS0ZRvvvkGixcvxo8//oivv/4aR48exZYtW7B3715puyNGjEDv3r1Rr1491K9fHwsWLMDLly/Rt2/fQno1Sgb1kTcrKyvEx8fj4sWLWdrfPkJHRESkVqwLG23Mnz8fenp66NixI1JTU+Hv74+lS5dK7fr6+tizZw8GDhwIb29vmJqaonfv3pgyZYoU4+bmhr179+K7777DwoULUaZMGaxatQr+/v5STNeuXfH06VNMmDABMTExqFWrFg4cOJClQzG9n9KlSwMA4uPjYWlpCSEEUlNToVAoIJPJEB8frxFHRESU2Ucxj42u4Dw2eUtLS4O/vz9UKhWy2zXV/WwOHjwIuVxeBBkSEVFR0Kl5bKjkuHr1KpRKpVTU2Nvbo1GjRtKRMSEElEqlNAcRERFRZh/9qSjSLZmHxOvp6SE2NlYajaavrw+lUinF1a5du0hyJCKi4ouFDRUr27Ztk/5fv359lClTRupj899//+H06dNSXNu2bYsqTSIiKqZY2FCxoh7GbWRkhLt370qFDPBmviEjIyOkpKRwuDcREWWLhQ0VK2ZmZnj27BlSUlKQkpICT09Pqe3evXtISUmR4oiIiN7GwoaKlQ4dOmDevHkA3gz5Vg/vzi6OiIjobRwVRcVKWlqaxn1zc3PUrVsX5ubmucYREREBPGJDxYyJiYnG/aSkJEREROQZR0REBPCIDRUzJ0+elP5vamoqXcVbT08Ppqam2cYRERGp8YgNFSvqzsEA8PLlS+n/KpVK437mOCIiIjUesaFixcjISOO+XC6HpaVllssnvB1HREQEsLChYubt2YTT0tKQkJCQpbMwZx0mIqLssLChYmXr1q0a983NzVGxYsUso6LejiMiIgLYx4aKmVevXmncT0pKQlJSUp5xREREAAsbKmbS09Ol/+vr68PBwQEymQxCCMTExEgXwcwcR0REpMbChooVW1tbPHz4EACgVCql/2cXR0RE9Db2saFixdDQUOO+qakp3NzcNOawyS6OiIgIYGFDxYyHh4fG/ZcvXyI6OlpjDpvs4oiIiAAWNlTMaHskhkdsiIgoOyxsqFipXLlygcYREVHJwsKGipV///23QOOIiKhkYWFDxYq289NwHhsiIsoOCxsqVg4fPqxx39LSEtbW1rC0tMw1joiICOA8NlTMqFQqjfsJCQlaxREREQEsbKiYUc8yrGZiYgK5XI60tDSN008ymawo0iMiomKOp6KoWClbtqzG/VevXiE+Pj5Ln5q344iIiAAWNlTMaHskhkdsiIgoOyxsqFh5u5Pw+8YREVHJwsKGipWYmJgCjSMiopKlWBc2M2fOxCeffAJzc3PY2dmhffv2iIqK0ohJSUnB4MGDYWtrCzMzM3Ts2BGxsbEaMffv30fr1q1hYmICOzs7jBw5EhkZGRoxx48fR506daBQKFCxYkUEBwdnyWfJkiUoV64cjIyM4OXlhTNnzhT4cy7pDAy068+ubRwREZUsxbqwOXHiBAYPHozTp08jJCQE6enpaNGihcYFEb/77jvs3r0bW7duxYkTJ/Do0SN06NBBalcqlWjdujXS0tJw6tQprFmzBsHBwZgwYYIUEx0djdatW6NZs2a4ePEihg8fjn79+uHgwYNSzObNmzFixAhMnDgR58+fh6enJ/z9/fHkyZPCeTFKiIcPHxZoHBERlSwykXlsbTH39OlT2NnZ4cSJE2jSpAkSEhJQunRpbNiwAZ06dQIA3LhxA1WrVkVYWBgaNGiA/fv3o02bNnj06BHs7e0BAMuXL8eoUaPw9OlTyOVyjBo1Cnv37kVkZKS0rW7duiE+Ph4HDhwAAHh5eeGTTz7B4sWLAbyZR8XFxQXffvstRo8erVX+iYmJsLS0REJCAiwsLArypdEZTZo00To2NDT0A2ZCRETFiba/ocX6iM3b1JO12djYAAAiIiKQnp4OPz8/KaZKlSooW7YswsLCAABhYWGoUaOGVNQAgL+/PxITE3H16lUpJvM61DHqdaSlpSEiIkIjRk9PD35+flJMdlJTU5GYmKhxIyIiog/noylsVCoVhg8fjkaNGqF69eoA3nQglcvlsLKy0oi1t7eXOpfGxMRoFDXqdnVbbjGJiYl4/fo1nj17BqVSmW1Mbp1YZ86cCUtLS+nm4uKS/ydOREREWvtoCpvBgwcjMjISmzZtKupUtDZmzBgkJCRItwcPHhR1SkRERDrtoxhaMmTIEOzZswehoaEoU6aMtNzBwQFpaWmIj4/XOGoTGxsLBwcHKebt0UvqUVOZY94eSRUbGwsLCwsYGxtDX18f+vr62cao15EdhUIBhUKR/ydMRERE76RYH7ERQmDIkCHYvn07jh49Cjc3N432unXrwtDQEEeOHJGWRUVF4f79+/D29gYAeHt748qVKxqjl0JCQmBhYYFq1apJMZnXoY5Rr0Mul6Nu3boaMSqVCkeOHJFiqGBw5mEiInofxfqIzeDBg7Fhwwbs3LkT5ubmUn8WS0tLGBsbw9LSEoGBgRgxYgRsbGxgYWGBb7/9Ft7e3mjQoAEAoEWLFqhWrRp69uyJoKAgxMTEYNy4cRg8eLB0NOWbb77B4sWL8eOPP+Lrr7/G0aNHsWXLFuzdu1fKZcSIEejduzfq1auH+vXrY8GCBXj58iX69u1b+C+MDrO0tER8fLxWcURERG8r1oXNsmXLAABNmzbVWL569Wr06dMHADB//nzo6emhY8eOSE1Nhb+/P5YuXSrF6uvrY8+ePRg4cCC8vb1hamqK3r17Y8qUKVKMm5sb9u7di++++w4LFy5EmTJlsGrVKvj7+0sxXbt2xdOnTzFhwgTExMSgVq1aOHDgQJYOxfR+0tPTCzSOiIhKlo9qHpuPHeexyduXX36JuLi4PONsbW2xffv2QsiIiIiKA52cx4Z0nzZFTX7iiIioZGFhQ0RERDqDhQ0RERHpDBY2VKxoO+8P5wciIqLssLChYsXQ0LBA44iIqGRhYUPFilKpLNA4IiIqWVjYULHy+vXrAo0jIqKShYUNERER6QwWNkRERKQzWNgQERGRzmBhQ0RERDqDhQ0RERHpjGJ9dW8qHlJSUnDv3r2iTiOLqKioQtmOq6srjIyMCmVbRET0fljYUJ7u3buH/v37F3UaWRRWTitXroS7u3uhbIuIiN4PCxvKk6urK1auXFko28pPsVJYObm6uhbKdoiI6P2xsKE8GRkZFdoRizlz5uCHH37QKo5HUYiI6G3sPEzFSv369Qs0joiIShYWNlTshIaGvlc7ERGVXCxsqFgKDQ3FnDlzNJbNmTOHRQ0REeWKhQ0VW/Xr15c6CK9cuZKnn4iIKE8sbIiIiEhnsLAhIiIincHChoiIiHQG57H5iMTGxiI+Pr6o0yhU6ks5FMdLOnxoVlZWsLe3L+o0iIg+KjIhhCjqJEqKxMREWFpaIiEhARYWFvl6bGxsLHr0+AppaakfKDsqbuRyBdavX8fihogI2v+G8ojNRyI+Ph5paalIqdAUwtiqqNOhD0z2Oh64fRzx8fEsbIiI8oGFzUdGGFtBZVqqqNOgD4yd34iI3g2/P4mIiEhn8IjNR0b2Op7VaAkgex1f1CmUKGPHjsXff/8t3ffx8cH06dOLMCPSVXfu3MHXX38NlUoFPT09/P777yhfvnxRp6VTWNjk05IlSzB79mzExMTA09MTv/zyS6HOiGt0+3ihbYuoJGjSpEmWZX///TeaNGnCS3hQgXp7X1OpVOjTpw8AXgOvILGwyYfNmzdjxIgRWL58Oby8vLBgwQL4+/sjKioKdnZ2hZJDapm6EArzQtkWFR1ZahIU/0UUdRo6L7ui5u12/uBQQci8rxkaGqJnz55Yu3Yt0tPTpXbuawWDhU0+zJs3D/3790ffvn0BAMuXL8fevXvx+++/Y/To0R9021ZWVpDLFQB/7EoMuVwBKyurok5DZ40dO1b6f5cuXTBkyBDp/uLFi7FlyxYpjqel6H3cuXNH+v+mTZvg5OQEAOjTpw8ePXqEbt26SXE8LfX+WNhoKS0tDRERERgzZoy0TE9PD35+fggLC8v2MampqUhN/f95ZxITE995+/b29li/fl2RTNCXmpqKmJiYQt8uADx+/Bi//fYbAgMD4ejoWCQ5ODg4QKFQFPp2i3KCvn///Rd3794t9O2+evUKt2/fLpRtZe5Tk5qairlz5+YYl1NbQatQoQJMTEwKZVuZlStXDpUrVy707QIlY1/buXMnAEAmk2Hjxo1Z2mUyGYQQ6NOnD9q1a1coOenyvsYJ+rT06NEjODs749SpU/D29paW//jjjzhx4gTCw8OzPGbSpEmYPHlyluXvMkFfUYqKikL//v2LOo0is3LlSri7uxd1GoXq22+/xaVLl4o6DSok6v6CRYH7WsnyPvsaJ+grBsaMGYMRI0ZI9xMTE+Hi4lKEGb0bV1dXrFy5sqjTKDKurq5FnUKh+/bbb0vMX9EAsv0rOa/2D6Eo/4ouKiVpX5PJZGjbtm2W9l27dkF9jIH72vtjYaOlUqVKQV9fH7GxsRrLY2Nj4eDgkO1jFApFkZzCKGhGRkYl7ohFSVe5cuUiOzVRWJ4/fy6djlIoFFn62Kj5+Pjg+++/L/T8SoqSsK99+eWX6NOnD4QQCAgIkPrYAG/OBqgLn+DgYPaxKQA8FZUPXl5eqF+/vnQYTaVSoWzZshgyZIhWnYff51pRRFTw8hoVBXAYLhWMt0dFdevWDZs2bZJGRQHc1/Ki7W8o53rLhxEjRmDlypVYs2YNrl+/joEDB+Lly5fSKCki+rjk9UPCHxoqKJn3pfT0dI2h3m+30/thYZMPXbt2xZw5czBhwgTUqlULFy9exIEDB3iRQqKPWGhoKHx8fDSW+fj48IeGClxoaCiCg4Ohp/fmp1dPTw/BwcHc1woYT0UVIp6KIiIiejc8FUVEREQlDgsbIiIi0hksbIiIiEhnsLAhIiIincHChoiIiHQGCxsiIiLSGbykQiFSj6x/n6t8ExERlUTq3868ZqlhYVOIkpKSAOCjvBAmERFRcZCUlARLS8sc2zlBXyFSqVR49OgRzM3NIZPJijqdj4L6iugPHjzgpIb0QXFfo8LCfe3dCCGQlJQEJycnafbm7PCITSHS09NDmTJlijqNj5KFhQW/AKhQcF+jwsJ9Lf9yO1Kjxs7DREREpDNY2BAREZHOYGFDxZpCocDEiROhUCiKOhXScdzXqLBwX/uw2HmYiIiIdAaP2BAREZHOYGFDREREOoOFDREREekMFjZUYO7evQuZTIaLFy8WdSpE76RcuXJYsGBBUadBRO+BnYepwCiVSjx9+hSlSpWCgQHnfqTiKzg4GMOHD0d8fLzG8qdPn8LU1BQmJiZFkxgRvTf++lCBSEtLg1wuh4ODQ1GnQiWcel98F6VLly7gbIiKjhACSqWyxP2hyVNRlK2mTZtiyJAhGDJkCCwtLVGqVCmMHz9euqpquXLlMHXqVPTq1QsWFhYYMGBAtqeirl69ijZt2sDCwgLm5ubw8fHB7du3pfZVq1ahatWqMDIyQpUqVbB06VKt8lNv66+//kKzZs1gYmICT09PhIWFSTGTJk1CrVq1NB63YMEClCtXTrrfp08ftG/fHjNmzIC9vT2srKwwZcoUZGRkYOTIkbCxsUGZMmWwevXq/L+IVCjU++rw4cNRqlQp+Pv7Y968eahRowZMTU3h4uKCQYMGITk5GQBw/Phx9O3bFwkJCZDJZJDJZJg0aRKArKeiZDIZVq1ahS+//BImJiaoVKkSdu3apbH9Xbt2oVKlSjAyMkKzZs2wZs0ayGSyLEeDqHjI67vtxYsX6NWrF6ytrWFiYoJWrVrh5s2b0uODg4NhZWWFHTt2SO+7v78/Hjx4oNX2L126hGbNmsHc3BwWFhaoW7cuzp07J7WfPHkSTZs2hYmJCaytreHv748XL14AAFJTUzF06FDY2dnByMgIjRs3xtmzZ6XHHj9+HDKZDPv370fdunWhUCjwzz//QKVSYebMmXBzc4OxsTE8PT2xbdu2gng5iydBlA1fX19hZmYmhg0bJm7cuCHWrVsnTExMxIoVK4QQQri6ugoLCwsxZ84ccevWLXHr1i0RHR0tAIgLFy4IIYT477//hI2NjejQoYM4e/asiIqKEr///ru4ceOGEEKIdevWCUdHR/Hnn3+KO3fuiD///FPY2NiI4ODgPPNTb6tKlSpiz549IioqSnTq1Em4urqK9PR0IYQQEydOFJ6enhqPmz9/vnB1dZXu9+7dW5ibm4vBgweLGzduiN9++00AEP7+/mL69Oni33//FVOnThWGhobiwYMH7//CUoFT76sjR44UN27cEDdu3BDz588XR48eFdHR0eLIkSPC3d1dDBw4UAghRGpqqliwYIGwsLAQjx8/Fo8fPxZJSUlCiDf79fz586V1AxBlypQRGzZsEDdv3hRDhw4VZmZmIi4uTgghxJ07d4ShoaH44YcfxI0bN8TGjRuFs7OzACBevHhR2C8FaSGv77a2bduKqlWritDQUHHx4kXh7+8vKlasKNLS0oQQQqxevVoYGhqKevXqiVOnTolz586J+vXri4YNG2q1fQ8PD/HVV1+J69evi3///Vds2bJFXLx4UQghxIULF4RCoRADBw4UFy9eFJGRkeKXX34RT58+FUIIMXToUOHk5CT27dsnrl69Knr37i2sra2l/fHYsWMCgKhZs6Y4dOiQuHXrloiLixPTpk0TVapUEQcOHBC3b98Wq1evFgqFQhw/frygX95igYUNZcvX11dUrVpVqFQqadmoUaNE1apVhRBvfgDat2+v8Zi3C5sxY8YINzc36QvhbRUqVBAbNmzQWDZ16lTh7e2dZ37qba1atUpadvXqVQFAXL9+XQihfWHj6uoqlEqltMzd3V34+PhI9zMyMoSpqanYuHFjnnlR4fP19RW1a9fONWbr1q3C1tZWur969WphaWmZJS67wmbcuHHS/eTkZAFA7N+/Xwjx5jNRvXp1jXWMHTuWhU0xltt327///isAiJMnT0ptz549E8bGxmLLli1CiDf7DgBx+vRpKeb69esCgAgPD89z++bm5jn+8RYQECAaNWqUbVtycrIwNDQU69evl5alpaUJJycnERQUJIT4/8Jmx44dUkxKSoowMTERp06d0lhfYGCgCAgIyDPfjxFPRVGOGjRoAJlMJt339vbGzZs3oVQqAQD16tXL9fEXL16Ej48PDA0Ns7S9fPkSt2/fRmBgIMzMzKTbtGnTNE5V5aVmzZrS/x0dHQEAT5480frxAODh4QE9vf//KNjb26NGjRrSfX19fdja2uZ7vVR46tatq3H/8OHDaN68OZydnWFubo6ePXsiLi4Or169yve6M+9jpqamsLCwkPaFqKgofPLJJxrx9evXf4dnQIUpp++2a9euwcDAAF5eXlKbra0t3N3dcf36dWmZgYGBxvtepUoVWFlZacTkZMSIEejXrx/8/Pwwa9Ysje+7ixcvonnz5tk+7vbt20hPT0ejRo2kZYaGhqhfv36W7Wb+br516xZevXqFzz77TOO79o8//sjXd+3HpGT1KKICZWpqmmu7sbFxjm3q/g4rV67U+BIB3hQS2spcNKm/qFQqFQBAT09POm+ulp6enus61OvJbpl6vVT8ZN4X7969izZt2mDgwIGYPn06bGxs8M8//yAwMBBpaWn5HvHEfYEK0qRJk9C9e3fs3bsX+/fvx8SJE7Fp0yZ8+eWXuX5n5kfmz4P6u3bv3r1wdnbWiNPVa1XxiA3lKDw8XOP+6dOnUalSJa0Lj5o1a+Lvv//Otpiwt7eHk5MT7ty5g4oVK2rc3NzcCiT/0qVLIyYmRqO44Rw7ui8iIgIqlQpz585FgwYNULlyZTx69EgjRi6XS0ce34e7u7tGx08AGp05qXjK6butWrVqyMjI0GiPi4tDVFQUqlWrJi3LyMjQeN+joqIQHx+PqlWrarX9ypUr47vvvsOhQ4fQoUMHaXBCzZo1ceTIkWwfU6FCBcjlcpw8eVJalp6ejrNnz2rk9rZq1apBoVDg/v37Wb5rXVxctMr3Y8PChnJ0//59jBgxAlFRUdi4cSN++eUXDBs2TOvHDxkyBImJiejWrRvOnTuHmzdvYu3atYiKigIATJ48GTNnzsSiRYvw77//4sqVK1i9ejXmzZtXIPk3bdoUT58+RVBQEG7fvo0lS5Zg//79BbJuKr4qVqyI9PR0/PLLL7hz5w7Wrl2L5cuXa8SUK1cOycnJOHLkCJ49e/ZOp6gA4H//+x9u3LiBUaNG4d9//8WWLVsQHBwMABqnOqh4yem7rVKlSmjXrh369++Pf/75B5cuXcJXX30FZ2dntGvXTnq8oaEhvv32W4SHhyMiIgJ9+vRBgwYN8jwN+fr1awwZMgTHjx/HvXv3cPLkSZw9e1YqiMaMGYOzZ89i0KBBuHz5Mm7cuIFly5bh2bNnMDU1xcCBAzFy5EgcOHAA165dQ//+/fHq1SsEBgbmuE1zc3P88MMP+O6777BmzRrcvn0b58+fxy+//II1a9YUzAtazLCwoRz16tULr1+/Rv369TF48GAMGzYMAwYM0Prxtra2OHr0KJKTk+Hr64u6deti5cqV0qH9fv36YdWqVVi9ejVq1KgBX19fBAcHF9gRm6pVq2Lp0qVYsmQJPD09cebMGfzwww8Fsm4qvjw9PTFv3jz8/PPPqF69OtavX4+ZM2dqxDRs2BDffPMNunbtitKlSyMoKOidtuXm5oZt27bhr7/+Qs2aNbFs2TKMHTsWgO4e5tcFuX23rV69GnXr1kWbNm3g7e0NIQT27duncUrSxMQEo0aNQvfu3dGoUSOYmZlh8+bNeW5XX18fcXFx6NWrFypXrowuXbqgVatWmDx5MoA3R3IOHTqES5cuoX79+vD29sbOnTuleWhmzZqFjh07omfPnqhTpw5u3bqFgwcPwtraOtftTp06FePHj8fMmTNRtWpVtGzZEnv37i2w79rihjMPU7aaNm2KWrVqcXp5onyaPn06li9frvW8JlS43ve7LadZq6n4YOdhIqL3sHTpUnzyySewtbXFyZMnMXv2bAwZMqSo0yIqsXgqioqlGTNmaAxNzHxr1apVUadHJLl58ybatWuHatWqYerUqfj++++lmYyp5PHw8Mjxu2v9+vVFnV6JwFNRVCw9f/4cz58/z7bN2Ng4y7BFIqLi4N69e9mOBAXejAY1Nzcv5IxKHhY2REREpDN4KoqIiIh0BgsbIiIi0hksbIiIiEhnsLAhIiIincHChoiIiHQGCxsiKrb69OkDmUyW5Xbr1q33XndwcDCsrKzeP0kiKlY48zARFWstW7aUrn6sVrp06SLKJnvp6eka1xIioqLDIzZEVKwpFAo4ODho3PT19bFz507UqVMHRkZGKF++PCZPnoyMjAzpcfPmzUONGjVgamoKFxcXDBo0CMnJyQCA48ePo2/fvkhISJCOAqlnC5bJZNixY4dGDlZWVtJVu+/evQuZTIbNmzfD19cXRkZG0oyyq1atQtWqVWFkZIQqVapg6dKl0jrS0tIwZMgQODo6wsjICK6urlkuzklE749HbIjoo/P333+jV69eWLRoEXx8fHD79m3p6swTJ04EAOjp6WHRokVwc3PDnTt3MGjQIPz4449YunQpGjZsiAULFmDChAmIiooCAJiZmeUrh9GjR2Pu3LmoXbu2VNxMmDABixcvRu3atXHhwgX0798fpqam6N27NxYtWoRdu3Zhy5YtKFu2LB48eMALZRJ9ACxsiKhY27Nnj0bR0apVK7x48QKjR49G7969AQDly5fH1KlT8eOPP0qFzfDhw6XHlCtXDtOmTcM333yDpUuXQi6Xw9LSEjKZDA4ODu+U1/Dhw9GhQwfp/sSJEzF37lxpmZubG65du4Zff/0VvXv3xv3791GpUiU0btwYMpkMrq6u77RdIsodCxsiKtaaNWuGZcuWSfdNTU1Rs2ZNnDx5EtOnT5eWK5VKpKSk4NWrVzAxMcHhw4cxc+ZM3LhxA4mJicjIyNBof1/16tWT/v/y5Uvcvn0bgYGB6N+/v7Q8IyMDlpaWAN50hP7ss8/g7u6Oli1bok2bNmjRosV750FEmljYEFGxZmpqiooVK2osS05OxuTJkzWOmKgZGRnh7t27aNOmDQYOHIjp06fDxsYG//zzDwIDA5GWlpZrYSOTyfD2JfSyu6ihqampRj4AsHLlSnh5eWnE6evrAwDq1KmD6Oho7N+/H4cPH0aXLl3g5+eHbdu25fEKEFF+sLAhoo9OnTp1EBUVlaXgUYuIiIBKpcLcuXOhp/dmjMSWLVs0YuRyOZRKZZbHli5dGo8fP5bu37x5E69evco1H3t7ezg5OeHOnTvo0aNHjnEWFhbo2rUrunbtik6dOqFly5Z4/vw5bGxscl0/EWmPhQ0RfXQmTJiANm3aoGzZsujUqRP09PRw6dIlREZGYtq0aahYsSLS09Pxyy+/4IsvvsDJkyexfPlyjXWUK1cOycnJOHLkCDw9PWFiYgITExN8+umnWLx4Mby9vaFUKjFq1CithnJPnjwZQ4cOhaWlJVq2bInU1FScO3cOL168wIgRIzBv3jw4Ojqidu3a0NPTw9atW+Hg4MC5dIgKGId7E9FHx9/fH3v27MGhQ4fwySefoEGDBpg/f77UIdfT0xPz5s3Dzz//jOrVq2P9+vVZhlY3bNgQ33zzDbp27YrSpUsjKCgIADB37ly4uLjAx8cH3bt3xw8//KBVn5x+/fph1apVWL16NWrUqAFfX18EBwfDzc0NAGBubo6goCDUq1cPn3zyCe7evYt9+/ZJR5SIqGDIxNsnk4mIiIg+UvxTgYiIiHQGCxsiIiLSGSxsiIiISGewsCEiIiKdwcKGiIiIdAYLGyIiItIZLGyIiIhIZ7CwISIiIp3BwoaIiIh0BgsbIiIi0hksbIiIiEhn/B9zVDaSOp4R+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143000"/>
            <a:ext cx="4574721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228600" y="43434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Figure: Distribution of Scaled Numeric Features after Normalization</a:t>
            </a: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4648200" y="2819400"/>
            <a:ext cx="4876800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Min–Max Scaling used to transform numeric features into 0–1 range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Ensures fair contribution of price, rating, and popularity in ML/DL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Prevents large price values from dominating model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Normalized values improve training stability and model performance</a:t>
            </a:r>
          </a:p>
        </p:txBody>
      </p:sp>
      <p:pic>
        <p:nvPicPr>
          <p:cNvPr id="15" name="Picture 1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914400"/>
            <a:ext cx="8153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Final System Output – Backend Recommendation Results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 t="14924" r="6733"/>
          <a:stretch>
            <a:fillRect/>
          </a:stretch>
        </p:blipFill>
        <p:spPr bwMode="auto">
          <a:xfrm>
            <a:off x="1676400" y="2057400"/>
            <a:ext cx="4467026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867" name="Rectangle 3"/>
          <p:cNvSpPr>
            <a:spLocks noChangeArrowheads="1"/>
          </p:cNvSpPr>
          <p:nvPr/>
        </p:nvSpPr>
        <p:spPr bwMode="auto">
          <a:xfrm rot="10800000" flipV="1">
            <a:off x="381000" y="4815245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Successfully integrated ML/DL models into backend recommendation engine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Displays personalized recommendations with product details &amp; final scores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Shows ranking based on hybrid scoring (Deep + ML + Meta factors)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Confirms correct functioning of the model outside training environment</a:t>
            </a: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 l="4386" r="4386"/>
          <a:stretch>
            <a:fillRect/>
          </a:stretch>
        </p:blipFill>
        <p:spPr bwMode="auto">
          <a:xfrm>
            <a:off x="914400" y="1905000"/>
            <a:ext cx="6477000" cy="2786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09600" y="762000"/>
            <a:ext cx="7162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Final UI Output – Recommendation Engine Frontend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 rot="10800000" flipV="1">
            <a:off x="304800" y="4919008"/>
            <a:ext cx="8839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User can enter a query (e.g., </a:t>
            </a:r>
            <a:r>
              <a:rPr kumimoji="0" 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“Android”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 and receive relevant product recommendations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Recommendations display product name, category, price, rating &amp; key features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UI presents results in a card-layout for clear and user-friendly browsing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Model outputs are successfully consumed by frontend → proves end-to-end integration</a:t>
            </a: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19200"/>
            <a:ext cx="60156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Future Work - Collaborative Filtering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8153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Collaborative Filtering (CF) is planned as a future enhancement to make the system personalized for each user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Unlike content-based models, CF recommends products based on user behavior patterns and community preferences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• Types of Collaborative Filtering: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User-User CF: Finds users with similar tastes and recommends what they liked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Item-Item CF: Recommends items frequently chosen together or by similar users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Matrix Factorization (SVD/ALS): Learns hidden user and item factors using ratings/purchase interactions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 Implicit CF: Uses actions like clicks, views, cart-adds instead of explicit ratings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3600" y="533400"/>
            <a:ext cx="40094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381000" y="144780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project successfully built an end-to-end AI-based E-Commerce Product Recommendation System, starting from raw data and progressing to a fully functional user interface.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Dataset was cleaned, standardized, enriched, and transformed through preprocessing and feature engineering to create high-quality inputs for model training.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Multiple models were developed to strengthen the system: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✓ TF-IDF + KNN for content-based similarity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✓ Random Forest &amp; SVM for category prediction with high accuracy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✓ Word2Vec +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Autoencoder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Deep KNN for deep semantic product           matching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 hybrid score fusion and re-ranking mechanism combined outputs from ML and DL models to deliver more accurate and meaningful Top-N product recommendations.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ChangeArrowheads="1"/>
          </p:cNvSpPr>
          <p:nvPr/>
        </p:nvSpPr>
        <p:spPr bwMode="auto">
          <a:xfrm>
            <a:off x="457200" y="1143000"/>
            <a:ext cx="80772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All trained models, embeddings, and preprocessing tools were saved and integrated into a backend system to enable real-time recommendation generation.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A user-friendly UI was implemented to display personalized product suggestions, demonstrating a complete pipeline from data processing → model building →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The integrated ML + DL approach improved recommendation accuracy, relevance, and user experience, establishing a strong foundation for future enhancements such as collaborative filtering and real-time personalization.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685800" y="1524000"/>
            <a:ext cx="73914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Research Papers: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G. Linden, B. Smith, and J. York, "Amazon.com Recommendations: Item-to-Item Collaborative Filtering," </a:t>
            </a:r>
            <a:r>
              <a:rPr kumimoji="0" lang="en-U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IEEE Internet Computing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, vol. 7, no. 1, pp. 76-80, January-February 2003. DOI: 10.1109/MIC.2003.1167344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Y. </a:t>
            </a: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Hu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, Y. </a:t>
            </a: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Koren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, and C. </a:t>
            </a: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Volinsky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, "Collaborative Filtering for Implicit Feedback Datasets," in </a:t>
            </a:r>
            <a:r>
              <a:rPr kumimoji="0" lang="en-U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Proceedings of the 8th IEEE International Conference on Data Mining (ICDM)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, Pisa, Italy, 2008, pp. 263-272. DOI: 10.1109/ICDM.2008.22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Online Resources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"</a:t>
            </a: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TensorFlow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: An End-to-End Open Source Machine Learning Platform," </a:t>
            </a:r>
            <a:r>
              <a:rPr kumimoji="0" lang="en-U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Google </a:t>
            </a:r>
            <a:r>
              <a:rPr kumimoji="0" lang="en-U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TensorFlow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, 2025. [Online]. Available: 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  <a:hlinkClick r:id="rId2"/>
              </a:rPr>
              <a:t>https://www.tensorflow.org/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"Pandas Documentation," </a:t>
            </a:r>
            <a:r>
              <a:rPr kumimoji="0" lang="en-U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pandas Development Team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2025. [Online]. Available: 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  <a:hlinkClick r:id="rId3"/>
              </a:rPr>
              <a:t>https://pandas.pydata.org/docs/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2514600" y="762000"/>
            <a:ext cx="397897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ptos"/>
                <a:cs typeface="Times New Roman" pitchFamily="18" charset="0"/>
              </a:rPr>
              <a:t>REFERENCES</a:t>
            </a:r>
            <a:endParaRPr lang="en-US" sz="44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2209800"/>
            <a:ext cx="599971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Thank You!</a:t>
            </a:r>
            <a:endParaRPr lang="en-US" sz="9600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"/>
            <a:ext cx="274320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2245</Words>
  <Application>Microsoft Office PowerPoint</Application>
  <PresentationFormat>On-screen Show (4:3)</PresentationFormat>
  <Paragraphs>123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Vin 04</cp:lastModifiedBy>
  <cp:revision>45</cp:revision>
  <dcterms:created xsi:type="dcterms:W3CDTF">2025-11-09T10:27:23Z</dcterms:created>
  <dcterms:modified xsi:type="dcterms:W3CDTF">2025-11-10T08:02:50Z</dcterms:modified>
</cp:coreProperties>
</file>